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>
        <p:scale>
          <a:sx n="76" d="100"/>
          <a:sy n="76" d="100"/>
        </p:scale>
        <p:origin x="1064" y="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FE1D0-B906-354B-9A66-415C6632FAB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CBA2B-B611-624E-8826-572B9F52A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8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CBA2B-B611-624E-8826-572B9F52AD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5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4483" y="389594"/>
            <a:ext cx="1968488" cy="461859"/>
          </a:xfrm>
          <a:custGeom>
            <a:avLst/>
            <a:gdLst/>
            <a:ahLst/>
            <a:cxnLst/>
            <a:rect l="l" t="t" r="r" b="b"/>
            <a:pathLst>
              <a:path w="1968488" h="461859">
                <a:moveTo>
                  <a:pt x="0" y="0"/>
                </a:moveTo>
                <a:lnTo>
                  <a:pt x="1968488" y="0"/>
                </a:lnTo>
                <a:lnTo>
                  <a:pt x="1968488" y="461859"/>
                </a:lnTo>
                <a:lnTo>
                  <a:pt x="0" y="46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38125" y="1295400"/>
            <a:ext cx="3457575" cy="3943350"/>
            <a:chOff x="0" y="0"/>
            <a:chExt cx="910637" cy="10385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1800A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8125" y="1295400"/>
            <a:ext cx="3457575" cy="819150"/>
            <a:chOff x="0" y="0"/>
            <a:chExt cx="910637" cy="215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5275" y="1343025"/>
            <a:ext cx="647700" cy="685800"/>
            <a:chOff x="0" y="0"/>
            <a:chExt cx="1062792" cy="11253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29050" y="1295400"/>
            <a:ext cx="3457575" cy="3943350"/>
            <a:chOff x="0" y="0"/>
            <a:chExt cx="910637" cy="10385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2B7EC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29050" y="1295400"/>
            <a:ext cx="3457575" cy="819150"/>
            <a:chOff x="0" y="0"/>
            <a:chExt cx="910637" cy="215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2B7E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86200" y="1343025"/>
            <a:ext cx="647700" cy="685800"/>
            <a:chOff x="0" y="0"/>
            <a:chExt cx="1062792" cy="11253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19975" y="1295400"/>
            <a:ext cx="3457575" cy="3943350"/>
            <a:chOff x="0" y="0"/>
            <a:chExt cx="910637" cy="10385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3398A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19975" y="1295400"/>
            <a:ext cx="3457575" cy="819150"/>
            <a:chOff x="0" y="0"/>
            <a:chExt cx="910637" cy="215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3398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77125" y="1343025"/>
            <a:ext cx="647700" cy="685800"/>
            <a:chOff x="0" y="0"/>
            <a:chExt cx="1062792" cy="112530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010900" y="1295400"/>
            <a:ext cx="3457575" cy="3943350"/>
            <a:chOff x="0" y="0"/>
            <a:chExt cx="910637" cy="103857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D994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010900" y="1295400"/>
            <a:ext cx="3457575" cy="819150"/>
            <a:chOff x="0" y="0"/>
            <a:chExt cx="910637" cy="215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D99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68050" y="1343025"/>
            <a:ext cx="647700" cy="685800"/>
            <a:chOff x="0" y="0"/>
            <a:chExt cx="1062792" cy="112530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601825" y="1295400"/>
            <a:ext cx="3457575" cy="3943350"/>
            <a:chOff x="0" y="0"/>
            <a:chExt cx="910637" cy="103857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7F45A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601825" y="1295400"/>
            <a:ext cx="3457575" cy="819150"/>
            <a:chOff x="0" y="0"/>
            <a:chExt cx="910637" cy="21574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7F45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658975" y="1343025"/>
            <a:ext cx="647700" cy="685800"/>
            <a:chOff x="0" y="0"/>
            <a:chExt cx="1062792" cy="112530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38125" y="5324475"/>
            <a:ext cx="3457575" cy="3943350"/>
            <a:chOff x="0" y="0"/>
            <a:chExt cx="910637" cy="103857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37A0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38125" y="5324475"/>
            <a:ext cx="3457575" cy="819150"/>
            <a:chOff x="0" y="0"/>
            <a:chExt cx="910637" cy="21574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37A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" y="5376224"/>
            <a:ext cx="647700" cy="685800"/>
            <a:chOff x="0" y="0"/>
            <a:chExt cx="1062792" cy="112530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29050" y="5324475"/>
            <a:ext cx="3457575" cy="3943350"/>
            <a:chOff x="0" y="0"/>
            <a:chExt cx="910637" cy="103857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9B21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829050" y="5324475"/>
            <a:ext cx="3457575" cy="819150"/>
            <a:chOff x="0" y="0"/>
            <a:chExt cx="910637" cy="21574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9B2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86200" y="5376224"/>
            <a:ext cx="647700" cy="685800"/>
            <a:chOff x="0" y="0"/>
            <a:chExt cx="1062792" cy="112530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419975" y="5324475"/>
            <a:ext cx="3457575" cy="3943350"/>
            <a:chOff x="0" y="0"/>
            <a:chExt cx="910637" cy="103857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E5417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19975" y="5324475"/>
            <a:ext cx="3457575" cy="819150"/>
            <a:chOff x="0" y="0"/>
            <a:chExt cx="910637" cy="21574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E541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467600" y="5386388"/>
            <a:ext cx="647700" cy="685800"/>
            <a:chOff x="0" y="0"/>
            <a:chExt cx="1062792" cy="112530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010900" y="5324475"/>
            <a:ext cx="3457575" cy="3943350"/>
            <a:chOff x="0" y="0"/>
            <a:chExt cx="910637" cy="103857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CE1E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010900" y="5324475"/>
            <a:ext cx="3457575" cy="819150"/>
            <a:chOff x="0" y="0"/>
            <a:chExt cx="910637" cy="21574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1068050" y="5386388"/>
            <a:ext cx="647700" cy="685800"/>
            <a:chOff x="0" y="0"/>
            <a:chExt cx="1062792" cy="1125309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9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4601825" y="5324475"/>
            <a:ext cx="3457575" cy="3943350"/>
            <a:chOff x="0" y="0"/>
            <a:chExt cx="910637" cy="103857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F575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4601825" y="5324475"/>
            <a:ext cx="3457575" cy="819150"/>
            <a:chOff x="0" y="0"/>
            <a:chExt cx="910637" cy="21574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4658975" y="5386388"/>
            <a:ext cx="647700" cy="685800"/>
            <a:chOff x="0" y="0"/>
            <a:chExt cx="1062792" cy="112530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 rot="-5400000">
            <a:off x="1330121" y="8234151"/>
            <a:ext cx="861864" cy="3081611"/>
            <a:chOff x="0" y="0"/>
            <a:chExt cx="520700" cy="1861773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20700" cy="1832714"/>
            </a:xfrm>
            <a:custGeom>
              <a:avLst/>
              <a:gdLst/>
              <a:ahLst/>
              <a:cxnLst/>
              <a:rect l="l" t="t" r="r" b="b"/>
              <a:pathLst>
                <a:path w="520700" h="1832714">
                  <a:moveTo>
                    <a:pt x="0" y="80564"/>
                  </a:moveTo>
                  <a:lnTo>
                    <a:pt x="0" y="1565309"/>
                  </a:lnTo>
                  <a:cubicBezTo>
                    <a:pt x="0" y="1616342"/>
                    <a:pt x="22732" y="1664723"/>
                    <a:pt x="62015" y="1697300"/>
                  </a:cubicBezTo>
                  <a:lnTo>
                    <a:pt x="198335" y="1810346"/>
                  </a:lnTo>
                  <a:cubicBezTo>
                    <a:pt x="234300" y="1840170"/>
                    <a:pt x="286400" y="1840170"/>
                    <a:pt x="322365" y="1810346"/>
                  </a:cubicBezTo>
                  <a:lnTo>
                    <a:pt x="458685" y="1697300"/>
                  </a:lnTo>
                  <a:cubicBezTo>
                    <a:pt x="497968" y="1664723"/>
                    <a:pt x="520700" y="1616342"/>
                    <a:pt x="520700" y="1565309"/>
                  </a:cubicBezTo>
                  <a:lnTo>
                    <a:pt x="520700" y="80564"/>
                  </a:lnTo>
                  <a:cubicBezTo>
                    <a:pt x="520700" y="59197"/>
                    <a:pt x="512212" y="38705"/>
                    <a:pt x="497103" y="23597"/>
                  </a:cubicBezTo>
                  <a:cubicBezTo>
                    <a:pt x="481995" y="8488"/>
                    <a:pt x="461503" y="0"/>
                    <a:pt x="440136" y="0"/>
                  </a:cubicBezTo>
                  <a:lnTo>
                    <a:pt x="80564" y="0"/>
                  </a:lnTo>
                  <a:cubicBezTo>
                    <a:pt x="59197" y="0"/>
                    <a:pt x="38705" y="8488"/>
                    <a:pt x="23597" y="23597"/>
                  </a:cubicBezTo>
                  <a:cubicBezTo>
                    <a:pt x="8488" y="38705"/>
                    <a:pt x="0" y="59197"/>
                    <a:pt x="0" y="80564"/>
                  </a:cubicBezTo>
                  <a:close/>
                </a:path>
              </a:pathLst>
            </a:custGeom>
            <a:solidFill>
              <a:srgbClr val="2B7ECD"/>
            </a:solidFill>
            <a:ln w="38100" cap="sq">
              <a:solidFill>
                <a:srgbClr val="2B7E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2700"/>
              <a:ext cx="520700" cy="1645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89806" y="9420965"/>
            <a:ext cx="663912" cy="713436"/>
            <a:chOff x="0" y="0"/>
            <a:chExt cx="1073496" cy="115357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73496" cy="1153574"/>
            </a:xfrm>
            <a:custGeom>
              <a:avLst/>
              <a:gdLst/>
              <a:ahLst/>
              <a:cxnLst/>
              <a:rect l="l" t="t" r="r" b="b"/>
              <a:pathLst>
                <a:path w="1073496" h="1153574">
                  <a:moveTo>
                    <a:pt x="536748" y="0"/>
                  </a:moveTo>
                  <a:cubicBezTo>
                    <a:pt x="240310" y="0"/>
                    <a:pt x="0" y="258236"/>
                    <a:pt x="0" y="576787"/>
                  </a:cubicBezTo>
                  <a:cubicBezTo>
                    <a:pt x="0" y="895337"/>
                    <a:pt x="240310" y="1153574"/>
                    <a:pt x="536748" y="1153574"/>
                  </a:cubicBezTo>
                  <a:cubicBezTo>
                    <a:pt x="833186" y="1153574"/>
                    <a:pt x="1073496" y="895337"/>
                    <a:pt x="1073496" y="576787"/>
                  </a:cubicBezTo>
                  <a:cubicBezTo>
                    <a:pt x="1073496" y="258236"/>
                    <a:pt x="833186" y="0"/>
                    <a:pt x="5367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640" y="70048"/>
              <a:ext cx="872215" cy="97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11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3171109" y="81391"/>
            <a:ext cx="4888291" cy="1116262"/>
            <a:chOff x="0" y="0"/>
            <a:chExt cx="1287451" cy="293995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287451" cy="293995"/>
            </a:xfrm>
            <a:custGeom>
              <a:avLst/>
              <a:gdLst/>
              <a:ahLst/>
              <a:cxnLst/>
              <a:rect l="l" t="t" r="r" b="b"/>
              <a:pathLst>
                <a:path w="1287451" h="293995">
                  <a:moveTo>
                    <a:pt x="36427" y="0"/>
                  </a:moveTo>
                  <a:lnTo>
                    <a:pt x="1251025" y="0"/>
                  </a:lnTo>
                  <a:cubicBezTo>
                    <a:pt x="1260685" y="0"/>
                    <a:pt x="1269951" y="3838"/>
                    <a:pt x="1276782" y="10669"/>
                  </a:cubicBezTo>
                  <a:cubicBezTo>
                    <a:pt x="1283613" y="17500"/>
                    <a:pt x="1287451" y="26766"/>
                    <a:pt x="1287451" y="36427"/>
                  </a:cubicBezTo>
                  <a:lnTo>
                    <a:pt x="1287451" y="257568"/>
                  </a:lnTo>
                  <a:cubicBezTo>
                    <a:pt x="1287451" y="267229"/>
                    <a:pt x="1283613" y="276494"/>
                    <a:pt x="1276782" y="283326"/>
                  </a:cubicBezTo>
                  <a:cubicBezTo>
                    <a:pt x="1269951" y="290157"/>
                    <a:pt x="1260685" y="293995"/>
                    <a:pt x="1251025" y="293995"/>
                  </a:cubicBezTo>
                  <a:lnTo>
                    <a:pt x="36427" y="293995"/>
                  </a:lnTo>
                  <a:cubicBezTo>
                    <a:pt x="26766" y="293995"/>
                    <a:pt x="17500" y="290157"/>
                    <a:pt x="10669" y="283326"/>
                  </a:cubicBezTo>
                  <a:cubicBezTo>
                    <a:pt x="3838" y="276494"/>
                    <a:pt x="0" y="267229"/>
                    <a:pt x="0" y="257568"/>
                  </a:cubicBezTo>
                  <a:lnTo>
                    <a:pt x="0" y="36427"/>
                  </a:lnTo>
                  <a:cubicBezTo>
                    <a:pt x="0" y="26766"/>
                    <a:pt x="3838" y="17500"/>
                    <a:pt x="10669" y="10669"/>
                  </a:cubicBezTo>
                  <a:cubicBezTo>
                    <a:pt x="17500" y="3838"/>
                    <a:pt x="26766" y="0"/>
                    <a:pt x="36427" y="0"/>
                  </a:cubicBezTo>
                  <a:close/>
                </a:path>
              </a:pathLst>
            </a:custGeom>
            <a:ln w="1905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76200"/>
              <a:ext cx="1287451" cy="370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171109" y="92572"/>
            <a:ext cx="4888291" cy="344511"/>
            <a:chOff x="0" y="0"/>
            <a:chExt cx="1287451" cy="9073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287451" cy="90735"/>
            </a:xfrm>
            <a:custGeom>
              <a:avLst/>
              <a:gdLst/>
              <a:ahLst/>
              <a:cxnLst/>
              <a:rect l="l" t="t" r="r" b="b"/>
              <a:pathLst>
                <a:path w="1287451" h="90735">
                  <a:moveTo>
                    <a:pt x="26924" y="0"/>
                  </a:moveTo>
                  <a:lnTo>
                    <a:pt x="1260527" y="0"/>
                  </a:lnTo>
                  <a:cubicBezTo>
                    <a:pt x="1275397" y="0"/>
                    <a:pt x="1287451" y="12054"/>
                    <a:pt x="1287451" y="26924"/>
                  </a:cubicBezTo>
                  <a:lnTo>
                    <a:pt x="1287451" y="63811"/>
                  </a:lnTo>
                  <a:cubicBezTo>
                    <a:pt x="1287451" y="70952"/>
                    <a:pt x="1284615" y="77800"/>
                    <a:pt x="1279565" y="82849"/>
                  </a:cubicBezTo>
                  <a:cubicBezTo>
                    <a:pt x="1274516" y="87899"/>
                    <a:pt x="1267668" y="90735"/>
                    <a:pt x="1260527" y="90735"/>
                  </a:cubicBezTo>
                  <a:lnTo>
                    <a:pt x="26924" y="90735"/>
                  </a:lnTo>
                  <a:cubicBezTo>
                    <a:pt x="12054" y="90735"/>
                    <a:pt x="0" y="78681"/>
                    <a:pt x="0" y="63811"/>
                  </a:cubicBezTo>
                  <a:lnTo>
                    <a:pt x="0" y="26924"/>
                  </a:lnTo>
                  <a:cubicBezTo>
                    <a:pt x="0" y="12054"/>
                    <a:pt x="12054" y="0"/>
                    <a:pt x="26924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76200"/>
              <a:ext cx="1287451" cy="166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750282" y="9610162"/>
            <a:ext cx="2433261" cy="3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PITCH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238125" y="9344025"/>
            <a:ext cx="17947632" cy="861864"/>
            <a:chOff x="0" y="0"/>
            <a:chExt cx="4726948" cy="226993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726948" cy="226993"/>
            </a:xfrm>
            <a:custGeom>
              <a:avLst/>
              <a:gdLst/>
              <a:ahLst/>
              <a:cxnLst/>
              <a:rect l="l" t="t" r="r" b="b"/>
              <a:pathLst>
                <a:path w="4726948" h="226993">
                  <a:moveTo>
                    <a:pt x="9921" y="0"/>
                  </a:moveTo>
                  <a:lnTo>
                    <a:pt x="4717027" y="0"/>
                  </a:lnTo>
                  <a:cubicBezTo>
                    <a:pt x="4719658" y="0"/>
                    <a:pt x="4722182" y="1045"/>
                    <a:pt x="4724042" y="2906"/>
                  </a:cubicBezTo>
                  <a:cubicBezTo>
                    <a:pt x="4725903" y="4766"/>
                    <a:pt x="4726948" y="7290"/>
                    <a:pt x="4726948" y="9921"/>
                  </a:cubicBezTo>
                  <a:lnTo>
                    <a:pt x="4726948" y="217072"/>
                  </a:lnTo>
                  <a:cubicBezTo>
                    <a:pt x="4726948" y="219703"/>
                    <a:pt x="4725903" y="222227"/>
                    <a:pt x="4724042" y="224087"/>
                  </a:cubicBezTo>
                  <a:cubicBezTo>
                    <a:pt x="4722182" y="225948"/>
                    <a:pt x="4719658" y="226993"/>
                    <a:pt x="4717027" y="226993"/>
                  </a:cubicBezTo>
                  <a:lnTo>
                    <a:pt x="9921" y="226993"/>
                  </a:lnTo>
                  <a:cubicBezTo>
                    <a:pt x="7290" y="226993"/>
                    <a:pt x="4766" y="225948"/>
                    <a:pt x="2906" y="224087"/>
                  </a:cubicBezTo>
                  <a:cubicBezTo>
                    <a:pt x="1045" y="222227"/>
                    <a:pt x="0" y="219703"/>
                    <a:pt x="0" y="217072"/>
                  </a:cubicBezTo>
                  <a:lnTo>
                    <a:pt x="0" y="9921"/>
                  </a:lnTo>
                  <a:cubicBezTo>
                    <a:pt x="0" y="7290"/>
                    <a:pt x="1045" y="4766"/>
                    <a:pt x="2906" y="2906"/>
                  </a:cubicBezTo>
                  <a:cubicBezTo>
                    <a:pt x="4766" y="1045"/>
                    <a:pt x="7290" y="0"/>
                    <a:pt x="9921" y="0"/>
                  </a:cubicBezTo>
                  <a:close/>
                </a:path>
              </a:pathLst>
            </a:custGeom>
            <a:ln w="38100" cap="rnd">
              <a:solidFill>
                <a:srgbClr val="2B7EC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4726948" cy="265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9" name="Freeform 109"/>
          <p:cNvSpPr/>
          <p:nvPr/>
        </p:nvSpPr>
        <p:spPr>
          <a:xfrm>
            <a:off x="107575" y="388309"/>
            <a:ext cx="492478" cy="492478"/>
          </a:xfrm>
          <a:custGeom>
            <a:avLst/>
            <a:gdLst/>
            <a:ahLst/>
            <a:cxnLst/>
            <a:rect l="l" t="t" r="r" b="b"/>
            <a:pathLst>
              <a:path w="492478" h="492478">
                <a:moveTo>
                  <a:pt x="0" y="0"/>
                </a:moveTo>
                <a:lnTo>
                  <a:pt x="492477" y="0"/>
                </a:lnTo>
                <a:lnTo>
                  <a:pt x="492477" y="492477"/>
                </a:lnTo>
                <a:lnTo>
                  <a:pt x="0" y="492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0" name="Freeform 110"/>
          <p:cNvSpPr/>
          <p:nvPr/>
        </p:nvSpPr>
        <p:spPr>
          <a:xfrm>
            <a:off x="609577" y="141347"/>
            <a:ext cx="927734" cy="927734"/>
          </a:xfrm>
          <a:custGeom>
            <a:avLst/>
            <a:gdLst/>
            <a:ahLst/>
            <a:cxnLst/>
            <a:rect l="l" t="t" r="r" b="b"/>
            <a:pathLst>
              <a:path w="927734" h="927734">
                <a:moveTo>
                  <a:pt x="0" y="0"/>
                </a:moveTo>
                <a:lnTo>
                  <a:pt x="927734" y="0"/>
                </a:lnTo>
                <a:lnTo>
                  <a:pt x="927734" y="927734"/>
                </a:lnTo>
                <a:lnTo>
                  <a:pt x="0" y="927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3909866" y="227155"/>
            <a:ext cx="8976013" cy="52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PROBLEM-DATA-GeoAI SOLUTION (PDGS) CANVAS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-3376259" y="1500078"/>
            <a:ext cx="11293164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569606" y="1400179"/>
            <a:ext cx="2433261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STAKEHOLDERS &amp; USERS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258175" y="1519876"/>
            <a:ext cx="2316874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CONTEXT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1447719" y="1538926"/>
            <a:ext cx="3173156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REQUIREMENTS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5039975" y="1548451"/>
            <a:ext cx="3173156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INTELLIGENT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5186952" y="5429254"/>
            <a:ext cx="2788696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ROADMAP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428669" y="5562600"/>
            <a:ext cx="3173156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VALUE &amp; IMPACT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800975" y="5429254"/>
            <a:ext cx="3173156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ETHICS, PRIVACY &amp; SUSTAINABILITY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724400" y="5572763"/>
            <a:ext cx="2206811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TECHNOLOGY STACK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66023" y="5399397"/>
            <a:ext cx="2276414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SOLUTION DESIGN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3315149" y="464625"/>
            <a:ext cx="2472162" cy="65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Title: ResiliNet 3D</a:t>
            </a:r>
          </a:p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Name: AI Slop Final Boss</a:t>
            </a:r>
          </a:p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Code: HACK_MY_060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662485" y="720610"/>
            <a:ext cx="11293164" cy="30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Real-World Problems to Intelligent Geospatial Solutions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629408" y="103247"/>
            <a:ext cx="3971693" cy="294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Virtual Hackathon Submission</a:t>
            </a:r>
          </a:p>
        </p:txBody>
      </p:sp>
      <p:sp>
        <p:nvSpPr>
          <p:cNvPr id="125" name="AutoShape 125"/>
          <p:cNvSpPr/>
          <p:nvPr/>
        </p:nvSpPr>
        <p:spPr>
          <a:xfrm>
            <a:off x="707246" y="407589"/>
            <a:ext cx="0" cy="463867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402336" y="221284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On 18 August 2021 a flash flood off Gunung Jerai struck Yan, Kedah: 219 mm of rain in 24 hours, about </a:t>
            </a:r>
            <a:r>
              <a:rPr sz="1450" b="1">
                <a:solidFill>
                  <a:srgbClr val="1A1A1A"/>
                </a:solidFill>
                <a:latin typeface="Arial"/>
              </a:rPr>
              <a:t>4,395 people affected</a:t>
            </a:r>
            <a:r>
              <a:rPr sz="1450" b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When the network fails in that hour, one officer with one portable tower and one generator chooses sites by instinct.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Nothing shows the consequence of a placement before it is committed.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95928" y="221284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Primary users: </a:t>
            </a:r>
            <a:r>
              <a:rPr sz="1550" b="0">
                <a:solidFill>
                  <a:srgbClr val="1A1A1A"/>
                </a:solidFill>
                <a:latin typeface="Arial"/>
              </a:rPr>
              <a:t>the state disaster committee's emergency communications officer, and resilience planners at network operators (MCMC, TM, EDOTCO context).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Beneficiaries: </a:t>
            </a:r>
            <a:r>
              <a:rPr sz="1550" b="0">
                <a:solidFill>
                  <a:srgbClr val="1A1A1A"/>
                </a:solidFill>
                <a:latin typeface="Arial"/>
              </a:rPr>
              <a:t>13 kampungs, about 13,900 estimated residents in the pilot square.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A person decides; the tool ranks and records.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80375" y="221284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0" dirty="0">
                <a:solidFill>
                  <a:srgbClr val="1A1A1A"/>
                </a:solidFill>
                <a:latin typeface="Arial"/>
              </a:rPr>
              <a:t>One 8 by 8 km square at Yan, Kedah. A 1,217 m massif carries the district's tower cluster above the coastal plain it serves.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 dirty="0">
                <a:solidFill>
                  <a:srgbClr val="1A1A1A"/>
                </a:solidFill>
                <a:latin typeface="Arial"/>
              </a:rPr>
              <a:t>Terrain decides line of sight, one mountain road decides access, floodwater decides both.</a:t>
            </a:r>
          </a:p>
        </p:txBody>
      </p:sp>
      <p:pic>
        <p:nvPicPr>
          <p:cNvPr id="129" name="Picture 128" descr="derived-canvas-str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5" y="3931920"/>
            <a:ext cx="3145536" cy="748297"/>
          </a:xfrm>
          <a:prstGeom prst="rect">
            <a:avLst/>
          </a:prstGeom>
          <a:ln w="12700">
            <a:solidFill>
              <a:srgbClr val="C8CDD0"/>
            </a:solidFill>
          </a:ln>
        </p:spPr>
      </p:pic>
      <p:sp>
        <p:nvSpPr>
          <p:cNvPr id="130" name="TextBox 129"/>
          <p:cNvSpPr txBox="1"/>
          <p:nvPr/>
        </p:nvSpPr>
        <p:spPr>
          <a:xfrm>
            <a:off x="7580375" y="4736592"/>
            <a:ext cx="5305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5A666E"/>
                </a:solidFill>
                <a:latin typeface="Arial"/>
              </a:rPr>
              <a:t>Real console render, modelled surge at hour eight. </a:t>
            </a:r>
            <a:endParaRPr lang="en-US" sz="900" dirty="0">
              <a:solidFill>
                <a:srgbClr val="5A666E"/>
              </a:solidFill>
              <a:latin typeface="Arial"/>
            </a:endParaRPr>
          </a:p>
          <a:p>
            <a:r>
              <a:rPr sz="900" dirty="0">
                <a:solidFill>
                  <a:srgbClr val="5A666E"/>
                </a:solidFill>
                <a:latin typeface="Arial"/>
              </a:rPr>
              <a:t>Analysis grid 15.6 m; six stages, 0 to 1.8 m.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173967" y="2212848"/>
            <a:ext cx="3145536" cy="3075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dirty="0">
                <a:solidFill>
                  <a:srgbClr val="1A1A1A"/>
                </a:solidFill>
                <a:latin typeface="Arial"/>
              </a:rPr>
              <a:t>All public and licensed: </a:t>
            </a:r>
            <a:r>
              <a:rPr sz="1500" b="0" dirty="0">
                <a:solidFill>
                  <a:srgbClr val="1A1A1A"/>
                </a:solidFill>
                <a:latin typeface="Arial"/>
              </a:rPr>
              <a:t>OpenStreetMap (</a:t>
            </a:r>
            <a:r>
              <a:rPr sz="1500" b="0" dirty="0" err="1">
                <a:solidFill>
                  <a:srgbClr val="1A1A1A"/>
                </a:solidFill>
                <a:latin typeface="Arial"/>
              </a:rPr>
              <a:t>ODbL</a:t>
            </a:r>
            <a:r>
              <a:rPr sz="1500" b="0" dirty="0">
                <a:solidFill>
                  <a:srgbClr val="1A1A1A"/>
                </a:solidFill>
                <a:latin typeface="Arial"/>
              </a:rPr>
              <a:t>) roads, buildings, facilities, kampungs, towers; SRTM terrain via AWS Terrain Tiles; </a:t>
            </a:r>
            <a:r>
              <a:rPr sz="1500" b="0" dirty="0" err="1">
                <a:solidFill>
                  <a:srgbClr val="1A1A1A"/>
                </a:solidFill>
                <a:latin typeface="Arial"/>
              </a:rPr>
              <a:t>WorldPop</a:t>
            </a:r>
            <a:r>
              <a:rPr sz="1500" b="0" dirty="0">
                <a:solidFill>
                  <a:srgbClr val="1A1A1A"/>
                </a:solidFill>
                <a:latin typeface="Arial"/>
              </a:rPr>
              <a:t> 2020 population at 100 m (CC BY); Sentinel-1 radar (Copernicus) for the observed 2021 monsoon water.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0" dirty="0">
                <a:solidFill>
                  <a:srgbClr val="1A1A1A"/>
                </a:solidFill>
                <a:latin typeface="Arial"/>
              </a:rPr>
              <a:t>No operator data, no personal data; asset costs are labelled demonstration values.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767560" y="2212848"/>
            <a:ext cx="3145536" cy="240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0" dirty="0">
                <a:solidFill>
                  <a:srgbClr val="1A1A1A"/>
                </a:solidFill>
                <a:latin typeface="Arial"/>
              </a:rPr>
              <a:t>Deterministic geospatial computation, every step inspectable.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0" dirty="0">
                <a:solidFill>
                  <a:srgbClr val="1A1A1A"/>
                </a:solidFill>
                <a:latin typeface="Arial"/>
              </a:rPr>
              <a:t>HAND hydrology builds the flood surface per stage. A terrain-aware viewshed with 4/3 effective-earth approximates coverage. Road-graph severance tracks access.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 dirty="0">
                <a:solidFill>
                  <a:srgbClr val="1A1A1A"/>
                </a:solidFill>
                <a:latin typeface="Arial"/>
              </a:rPr>
              <a:t>A browser engine recomputes the whole future in about 1 </a:t>
            </a:r>
            <a:r>
              <a:rPr sz="1350" b="1" dirty="0" err="1">
                <a:solidFill>
                  <a:srgbClr val="1A1A1A"/>
                </a:solidFill>
                <a:latin typeface="Arial"/>
              </a:rPr>
              <a:t>ms</a:t>
            </a:r>
            <a:r>
              <a:rPr sz="1350" b="1" dirty="0">
                <a:solidFill>
                  <a:srgbClr val="1A1A1A"/>
                </a:solidFill>
                <a:latin typeface="Arial"/>
              </a:rPr>
              <a:t> per placement.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2336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Replay the modelled surge on a 3D block of real terrain and watch who loses service, hour by hour.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 dirty="0">
                <a:solidFill>
                  <a:srgbClr val="1A1A1A"/>
                </a:solidFill>
                <a:latin typeface="Arial"/>
              </a:rPr>
              <a:t>Score the four intuitive placements live; all four fail. 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Rank 137 viable sites by benefit per ringgit.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A four-perspective Scenario Council argues the pick in plain words; the planner accepts, modifies or overrides.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95928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Python precompute: GeoPandas, Rasterio, NetworkX; 31 tests.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Output is a 2.8 MB static pack, no server, no database.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Browser console: TypeScript and three.js; 97 tests.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Runs fully offline from a USB stick, which is the condition of a disaster.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43800" y="6236208"/>
            <a:ext cx="3393756" cy="300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Fairness: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the ranked plan leaves </a:t>
            </a:r>
            <a:r>
              <a:rPr sz="1300" b="0" dirty="0" err="1">
                <a:solidFill>
                  <a:srgbClr val="1A1A1A"/>
                </a:solidFill>
                <a:latin typeface="Arial"/>
              </a:rPr>
              <a:t>Ruat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 dark, and the screen says so.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Privacy: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nothing below 100 m grid cells.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Transparency: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six evidence labels on every value; assumptions register A-001 to A-026; published weights.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Accountability: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exportable decision log.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Safety: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“not a forecast” on screen.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Sustainability: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2.8 MB, offline, modest hardware.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Oversight: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a person accepts, modifies or overrides.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173967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Same tower, two sites: </a:t>
            </a:r>
            <a:r>
              <a:rPr sz="1550" b="1" dirty="0">
                <a:solidFill>
                  <a:srgbClr val="1A1A1A"/>
                </a:solidFill>
                <a:latin typeface="Arial"/>
              </a:rPr>
              <a:t>0 people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 at the district HQ, 1.1 m of water by hour eight; </a:t>
            </a:r>
            <a:r>
              <a:rPr sz="1550" b="1" dirty="0">
                <a:solidFill>
                  <a:srgbClr val="1A1A1A"/>
                </a:solidFill>
                <a:latin typeface="Arial"/>
              </a:rPr>
              <a:t>13,369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 at the engine's site.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The cheapest right move is a generator on dark site T-00: </a:t>
            </a:r>
            <a:r>
              <a:rPr sz="1550" b="1" dirty="0">
                <a:solidFill>
                  <a:srgbClr val="1A1A1A"/>
                </a:solidFill>
                <a:latin typeface="Arial"/>
              </a:rPr>
              <a:t>12,228 people back for RM 18,000, RM 1.47 per person.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 dirty="0">
                <a:solidFill>
                  <a:srgbClr val="1A1A1A"/>
                </a:solidFill>
                <a:latin typeface="Arial"/>
              </a:rPr>
              <a:t>Checkable before irreversible.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4767560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Now: </a:t>
            </a:r>
            <a:r>
              <a:rPr sz="1450" b="0">
                <a:solidFill>
                  <a:srgbClr val="1A1A1A"/>
                </a:solidFill>
                <a:latin typeface="Arial"/>
              </a:rPr>
              <a:t>an offline demo of one district, 128 automated tests, a Sentinel-1 pattern check, </a:t>
            </a:r>
            <a:r>
              <a:rPr sz="1450" b="1">
                <a:solidFill>
                  <a:srgbClr val="1A1A1A"/>
                </a:solidFill>
                <a:latin typeface="Arial"/>
              </a:rPr>
              <a:t>63.6% of observed water inside the modelled envelope</a:t>
            </a:r>
            <a:r>
              <a:rPr sz="1450" b="0">
                <a:solidFill>
                  <a:srgbClr val="1A1A1A"/>
                </a:solidFill>
                <a:latin typeface="Arial"/>
              </a:rPr>
              <a:t> against 33.9% for chance. Magnitude stays a scenario dial, not a forecast.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Next: </a:t>
            </a:r>
            <a:r>
              <a:rPr sz="1450" b="0">
                <a:solidFill>
                  <a:srgbClr val="1A1A1A"/>
                </a:solidFill>
                <a:latin typeface="Arial"/>
              </a:rPr>
              <a:t>river-gauge levels drive the stage dial; operator data under NDA replaces demo values; each new district is one config file.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91840" y="9473184"/>
            <a:ext cx="1453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600" b="1">
                <a:solidFill>
                  <a:srgbClr val="1A1A1A"/>
                </a:solidFill>
                <a:latin typeface="Arial"/>
              </a:rPr>
              <a:t>ResiliNet 3D: see the impact before you spend. </a:t>
            </a:r>
            <a:r>
              <a:rPr sz="1600" b="0">
                <a:solidFill>
                  <a:srgbClr val="1A1A1A"/>
                </a:solidFill>
                <a:latin typeface="Arial"/>
              </a:rPr>
              <a:t>The cheaper site wins only while it stays dry and reachable, and this simulator shows exactly when that stops being true.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709</Words>
  <Application>Microsoft Macintosh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Helvetica World Bold</vt:lpstr>
      <vt:lpstr>Helvetica World</vt:lpstr>
      <vt:lpstr>Calibri</vt:lpstr>
      <vt:lpstr>Arial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PDGS_Canvas_Template_v01</dc:title>
  <cp:lastModifiedBy>MUHAMMAD ZAHIRUDIN BIN SHAHRUDIN</cp:lastModifiedBy>
  <cp:revision>2</cp:revision>
  <dcterms:created xsi:type="dcterms:W3CDTF">2006-08-16T00:00:00Z</dcterms:created>
  <dcterms:modified xsi:type="dcterms:W3CDTF">2026-09-21T07:29:59Z</dcterms:modified>
  <dc:identifier>DAHPUYFABZQ</dc:identifier>
</cp:coreProperties>
</file>