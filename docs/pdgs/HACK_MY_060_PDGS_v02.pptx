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 autoAdjust="0"/>
    <p:restoredTop sz="94678" autoAdjust="0"/>
  </p:normalViewPr>
  <p:slideViewPr>
    <p:cSldViewPr>
      <p:cViewPr>
        <p:scale>
          <a:sx n="86" d="100"/>
          <a:sy n="86" d="100"/>
        </p:scale>
        <p:origin x="1784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FE1D0-B906-354B-9A66-415C6632FAB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CBA2B-B611-624E-8826-572B9F52A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8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CBA2B-B611-624E-8826-572B9F52AD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5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4483" y="389594"/>
            <a:ext cx="1968488" cy="461859"/>
          </a:xfrm>
          <a:custGeom>
            <a:avLst/>
            <a:gdLst/>
            <a:ahLst/>
            <a:cxnLst/>
            <a:rect l="l" t="t" r="r" b="b"/>
            <a:pathLst>
              <a:path w="1968488" h="461859">
                <a:moveTo>
                  <a:pt x="0" y="0"/>
                </a:moveTo>
                <a:lnTo>
                  <a:pt x="1968488" y="0"/>
                </a:lnTo>
                <a:lnTo>
                  <a:pt x="1968488" y="461859"/>
                </a:lnTo>
                <a:lnTo>
                  <a:pt x="0" y="461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38125" y="1295400"/>
            <a:ext cx="3457575" cy="3943350"/>
            <a:chOff x="0" y="0"/>
            <a:chExt cx="910637" cy="10385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1800A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8125" y="1295400"/>
            <a:ext cx="3457575" cy="819150"/>
            <a:chOff x="0" y="0"/>
            <a:chExt cx="910637" cy="215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1800A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5275" y="1343025"/>
            <a:ext cx="647700" cy="685800"/>
            <a:chOff x="0" y="0"/>
            <a:chExt cx="1062792" cy="11253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29050" y="1295400"/>
            <a:ext cx="3457575" cy="3943350"/>
            <a:chOff x="0" y="0"/>
            <a:chExt cx="910637" cy="10385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2B7EC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29050" y="1295400"/>
            <a:ext cx="3457575" cy="819150"/>
            <a:chOff x="0" y="0"/>
            <a:chExt cx="910637" cy="215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2B7E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86200" y="1343025"/>
            <a:ext cx="647700" cy="685800"/>
            <a:chOff x="0" y="0"/>
            <a:chExt cx="1062792" cy="11253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19975" y="1295400"/>
            <a:ext cx="3457575" cy="3943350"/>
            <a:chOff x="0" y="0"/>
            <a:chExt cx="910637" cy="10385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3398A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19975" y="1295400"/>
            <a:ext cx="3457575" cy="819150"/>
            <a:chOff x="0" y="0"/>
            <a:chExt cx="910637" cy="215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3398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77125" y="1343025"/>
            <a:ext cx="647700" cy="685800"/>
            <a:chOff x="0" y="0"/>
            <a:chExt cx="1062792" cy="112530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010900" y="1295400"/>
            <a:ext cx="3457575" cy="3943350"/>
            <a:chOff x="0" y="0"/>
            <a:chExt cx="910637" cy="103857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D994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010900" y="1295400"/>
            <a:ext cx="3457575" cy="819150"/>
            <a:chOff x="0" y="0"/>
            <a:chExt cx="910637" cy="215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D994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068050" y="1343025"/>
            <a:ext cx="647700" cy="685800"/>
            <a:chOff x="0" y="0"/>
            <a:chExt cx="1062792" cy="112530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601825" y="1295400"/>
            <a:ext cx="3457575" cy="3943350"/>
            <a:chOff x="0" y="0"/>
            <a:chExt cx="910637" cy="103857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7F45A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601825" y="1295400"/>
            <a:ext cx="3457575" cy="819150"/>
            <a:chOff x="0" y="0"/>
            <a:chExt cx="910637" cy="21574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7F45A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658975" y="1343025"/>
            <a:ext cx="647700" cy="685800"/>
            <a:chOff x="0" y="0"/>
            <a:chExt cx="1062792" cy="112530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38125" y="5324475"/>
            <a:ext cx="3457575" cy="3943350"/>
            <a:chOff x="0" y="0"/>
            <a:chExt cx="910637" cy="103857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37A0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38125" y="5324475"/>
            <a:ext cx="3457575" cy="819150"/>
            <a:chOff x="0" y="0"/>
            <a:chExt cx="910637" cy="21574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37A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95275" y="5376224"/>
            <a:ext cx="647700" cy="685800"/>
            <a:chOff x="0" y="0"/>
            <a:chExt cx="1062792" cy="112530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6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29050" y="5324475"/>
            <a:ext cx="3457575" cy="3943350"/>
            <a:chOff x="0" y="0"/>
            <a:chExt cx="910637" cy="103857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9B21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829050" y="5324475"/>
            <a:ext cx="3457575" cy="819150"/>
            <a:chOff x="0" y="0"/>
            <a:chExt cx="910637" cy="21574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9B2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86200" y="5376224"/>
            <a:ext cx="647700" cy="685800"/>
            <a:chOff x="0" y="0"/>
            <a:chExt cx="1062792" cy="112530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419975" y="5324475"/>
            <a:ext cx="3457575" cy="3943350"/>
            <a:chOff x="0" y="0"/>
            <a:chExt cx="910637" cy="103857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E5417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19975" y="5324475"/>
            <a:ext cx="3457575" cy="819150"/>
            <a:chOff x="0" y="0"/>
            <a:chExt cx="910637" cy="21574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E541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467600" y="5386388"/>
            <a:ext cx="647700" cy="685800"/>
            <a:chOff x="0" y="0"/>
            <a:chExt cx="1062792" cy="112530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010900" y="5324475"/>
            <a:ext cx="3457575" cy="3943350"/>
            <a:chOff x="0" y="0"/>
            <a:chExt cx="910637" cy="103857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CE1E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1010900" y="5324475"/>
            <a:ext cx="3457575" cy="819150"/>
            <a:chOff x="0" y="0"/>
            <a:chExt cx="910637" cy="215743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1068050" y="5386388"/>
            <a:ext cx="647700" cy="685800"/>
            <a:chOff x="0" y="0"/>
            <a:chExt cx="1062792" cy="1125309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9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4601825" y="5324475"/>
            <a:ext cx="3457575" cy="3943350"/>
            <a:chOff x="0" y="0"/>
            <a:chExt cx="910637" cy="103857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10637" cy="1038578"/>
            </a:xfrm>
            <a:custGeom>
              <a:avLst/>
              <a:gdLst/>
              <a:ahLst/>
              <a:cxnLst/>
              <a:rect l="l" t="t" r="r" b="b"/>
              <a:pathLst>
                <a:path w="910637" h="1038578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F575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910637" cy="107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4601825" y="5324475"/>
            <a:ext cx="3457575" cy="819150"/>
            <a:chOff x="0" y="0"/>
            <a:chExt cx="910637" cy="21574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10637" cy="215743"/>
            </a:xfrm>
            <a:custGeom>
              <a:avLst/>
              <a:gdLst/>
              <a:ahLst/>
              <a:cxnLst/>
              <a:rect l="l" t="t" r="r" b="b"/>
              <a:pathLst>
                <a:path w="910637" h="215743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910637" cy="253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4658975" y="5386388"/>
            <a:ext cx="647700" cy="685800"/>
            <a:chOff x="0" y="0"/>
            <a:chExt cx="1062792" cy="112530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62792" cy="1125309"/>
            </a:xfrm>
            <a:custGeom>
              <a:avLst/>
              <a:gdLst/>
              <a:ahLst/>
              <a:cxnLst/>
              <a:rect l="l" t="t" r="r" b="b"/>
              <a:pathLst>
                <a:path w="1062792" h="1125309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9637" y="67398"/>
              <a:ext cx="863518" cy="95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 u="none" strike="noStrik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 rot="-5400000">
            <a:off x="1330121" y="8234151"/>
            <a:ext cx="861864" cy="3081611"/>
            <a:chOff x="0" y="0"/>
            <a:chExt cx="520700" cy="1861773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20700" cy="1832714"/>
            </a:xfrm>
            <a:custGeom>
              <a:avLst/>
              <a:gdLst/>
              <a:ahLst/>
              <a:cxnLst/>
              <a:rect l="l" t="t" r="r" b="b"/>
              <a:pathLst>
                <a:path w="520700" h="1832714">
                  <a:moveTo>
                    <a:pt x="0" y="80564"/>
                  </a:moveTo>
                  <a:lnTo>
                    <a:pt x="0" y="1565309"/>
                  </a:lnTo>
                  <a:cubicBezTo>
                    <a:pt x="0" y="1616342"/>
                    <a:pt x="22732" y="1664723"/>
                    <a:pt x="62015" y="1697300"/>
                  </a:cubicBezTo>
                  <a:lnTo>
                    <a:pt x="198335" y="1810346"/>
                  </a:lnTo>
                  <a:cubicBezTo>
                    <a:pt x="234300" y="1840170"/>
                    <a:pt x="286400" y="1840170"/>
                    <a:pt x="322365" y="1810346"/>
                  </a:cubicBezTo>
                  <a:lnTo>
                    <a:pt x="458685" y="1697300"/>
                  </a:lnTo>
                  <a:cubicBezTo>
                    <a:pt x="497968" y="1664723"/>
                    <a:pt x="520700" y="1616342"/>
                    <a:pt x="520700" y="1565309"/>
                  </a:cubicBezTo>
                  <a:lnTo>
                    <a:pt x="520700" y="80564"/>
                  </a:lnTo>
                  <a:cubicBezTo>
                    <a:pt x="520700" y="59197"/>
                    <a:pt x="512212" y="38705"/>
                    <a:pt x="497103" y="23597"/>
                  </a:cubicBezTo>
                  <a:cubicBezTo>
                    <a:pt x="481995" y="8488"/>
                    <a:pt x="461503" y="0"/>
                    <a:pt x="440136" y="0"/>
                  </a:cubicBezTo>
                  <a:lnTo>
                    <a:pt x="80564" y="0"/>
                  </a:lnTo>
                  <a:cubicBezTo>
                    <a:pt x="59197" y="0"/>
                    <a:pt x="38705" y="8488"/>
                    <a:pt x="23597" y="23597"/>
                  </a:cubicBezTo>
                  <a:cubicBezTo>
                    <a:pt x="8488" y="38705"/>
                    <a:pt x="0" y="59197"/>
                    <a:pt x="0" y="80564"/>
                  </a:cubicBezTo>
                  <a:close/>
                </a:path>
              </a:pathLst>
            </a:custGeom>
            <a:solidFill>
              <a:srgbClr val="2B7ECD"/>
            </a:solidFill>
            <a:ln w="38100" cap="sq">
              <a:solidFill>
                <a:srgbClr val="2B7E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12700"/>
              <a:ext cx="520700" cy="1645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289806" y="9420965"/>
            <a:ext cx="663912" cy="713436"/>
            <a:chOff x="0" y="0"/>
            <a:chExt cx="1073496" cy="115357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073496" cy="1153574"/>
            </a:xfrm>
            <a:custGeom>
              <a:avLst/>
              <a:gdLst/>
              <a:ahLst/>
              <a:cxnLst/>
              <a:rect l="l" t="t" r="r" b="b"/>
              <a:pathLst>
                <a:path w="1073496" h="1153574">
                  <a:moveTo>
                    <a:pt x="536748" y="0"/>
                  </a:moveTo>
                  <a:cubicBezTo>
                    <a:pt x="240310" y="0"/>
                    <a:pt x="0" y="258236"/>
                    <a:pt x="0" y="576787"/>
                  </a:cubicBezTo>
                  <a:cubicBezTo>
                    <a:pt x="0" y="895337"/>
                    <a:pt x="240310" y="1153574"/>
                    <a:pt x="536748" y="1153574"/>
                  </a:cubicBezTo>
                  <a:cubicBezTo>
                    <a:pt x="833186" y="1153574"/>
                    <a:pt x="1073496" y="895337"/>
                    <a:pt x="1073496" y="576787"/>
                  </a:cubicBezTo>
                  <a:cubicBezTo>
                    <a:pt x="1073496" y="258236"/>
                    <a:pt x="833186" y="0"/>
                    <a:pt x="5367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0640" y="70048"/>
              <a:ext cx="872215" cy="97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11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3171109" y="81391"/>
            <a:ext cx="4888291" cy="1116262"/>
            <a:chOff x="0" y="0"/>
            <a:chExt cx="1287451" cy="293995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287451" cy="293995"/>
            </a:xfrm>
            <a:custGeom>
              <a:avLst/>
              <a:gdLst/>
              <a:ahLst/>
              <a:cxnLst/>
              <a:rect l="l" t="t" r="r" b="b"/>
              <a:pathLst>
                <a:path w="1287451" h="293995">
                  <a:moveTo>
                    <a:pt x="36427" y="0"/>
                  </a:moveTo>
                  <a:lnTo>
                    <a:pt x="1251025" y="0"/>
                  </a:lnTo>
                  <a:cubicBezTo>
                    <a:pt x="1260685" y="0"/>
                    <a:pt x="1269951" y="3838"/>
                    <a:pt x="1276782" y="10669"/>
                  </a:cubicBezTo>
                  <a:cubicBezTo>
                    <a:pt x="1283613" y="17500"/>
                    <a:pt x="1287451" y="26766"/>
                    <a:pt x="1287451" y="36427"/>
                  </a:cubicBezTo>
                  <a:lnTo>
                    <a:pt x="1287451" y="257568"/>
                  </a:lnTo>
                  <a:cubicBezTo>
                    <a:pt x="1287451" y="267229"/>
                    <a:pt x="1283613" y="276494"/>
                    <a:pt x="1276782" y="283326"/>
                  </a:cubicBezTo>
                  <a:cubicBezTo>
                    <a:pt x="1269951" y="290157"/>
                    <a:pt x="1260685" y="293995"/>
                    <a:pt x="1251025" y="293995"/>
                  </a:cubicBezTo>
                  <a:lnTo>
                    <a:pt x="36427" y="293995"/>
                  </a:lnTo>
                  <a:cubicBezTo>
                    <a:pt x="26766" y="293995"/>
                    <a:pt x="17500" y="290157"/>
                    <a:pt x="10669" y="283326"/>
                  </a:cubicBezTo>
                  <a:cubicBezTo>
                    <a:pt x="3838" y="276494"/>
                    <a:pt x="0" y="267229"/>
                    <a:pt x="0" y="257568"/>
                  </a:cubicBezTo>
                  <a:lnTo>
                    <a:pt x="0" y="36427"/>
                  </a:lnTo>
                  <a:cubicBezTo>
                    <a:pt x="0" y="26766"/>
                    <a:pt x="3838" y="17500"/>
                    <a:pt x="10669" y="10669"/>
                  </a:cubicBezTo>
                  <a:cubicBezTo>
                    <a:pt x="17500" y="3838"/>
                    <a:pt x="26766" y="0"/>
                    <a:pt x="36427" y="0"/>
                  </a:cubicBezTo>
                  <a:close/>
                </a:path>
              </a:pathLst>
            </a:custGeom>
            <a:ln w="1905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76200"/>
              <a:ext cx="1287451" cy="370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3171109" y="92572"/>
            <a:ext cx="4888291" cy="344511"/>
            <a:chOff x="0" y="0"/>
            <a:chExt cx="1287451" cy="9073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287451" cy="90735"/>
            </a:xfrm>
            <a:custGeom>
              <a:avLst/>
              <a:gdLst/>
              <a:ahLst/>
              <a:cxnLst/>
              <a:rect l="l" t="t" r="r" b="b"/>
              <a:pathLst>
                <a:path w="1287451" h="90735">
                  <a:moveTo>
                    <a:pt x="26924" y="0"/>
                  </a:moveTo>
                  <a:lnTo>
                    <a:pt x="1260527" y="0"/>
                  </a:lnTo>
                  <a:cubicBezTo>
                    <a:pt x="1275397" y="0"/>
                    <a:pt x="1287451" y="12054"/>
                    <a:pt x="1287451" y="26924"/>
                  </a:cubicBezTo>
                  <a:lnTo>
                    <a:pt x="1287451" y="63811"/>
                  </a:lnTo>
                  <a:cubicBezTo>
                    <a:pt x="1287451" y="70952"/>
                    <a:pt x="1284615" y="77800"/>
                    <a:pt x="1279565" y="82849"/>
                  </a:cubicBezTo>
                  <a:cubicBezTo>
                    <a:pt x="1274516" y="87899"/>
                    <a:pt x="1267668" y="90735"/>
                    <a:pt x="1260527" y="90735"/>
                  </a:cubicBezTo>
                  <a:lnTo>
                    <a:pt x="26924" y="90735"/>
                  </a:lnTo>
                  <a:cubicBezTo>
                    <a:pt x="12054" y="90735"/>
                    <a:pt x="0" y="78681"/>
                    <a:pt x="0" y="63811"/>
                  </a:cubicBezTo>
                  <a:lnTo>
                    <a:pt x="0" y="26924"/>
                  </a:lnTo>
                  <a:cubicBezTo>
                    <a:pt x="0" y="12054"/>
                    <a:pt x="12054" y="0"/>
                    <a:pt x="26924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76200"/>
              <a:ext cx="1287451" cy="166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750282" y="9610162"/>
            <a:ext cx="2433261" cy="30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PITCH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238125" y="9344025"/>
            <a:ext cx="17947632" cy="861864"/>
            <a:chOff x="0" y="0"/>
            <a:chExt cx="4726948" cy="226993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726948" cy="226993"/>
            </a:xfrm>
            <a:custGeom>
              <a:avLst/>
              <a:gdLst/>
              <a:ahLst/>
              <a:cxnLst/>
              <a:rect l="l" t="t" r="r" b="b"/>
              <a:pathLst>
                <a:path w="4726948" h="226993">
                  <a:moveTo>
                    <a:pt x="9921" y="0"/>
                  </a:moveTo>
                  <a:lnTo>
                    <a:pt x="4717027" y="0"/>
                  </a:lnTo>
                  <a:cubicBezTo>
                    <a:pt x="4719658" y="0"/>
                    <a:pt x="4722182" y="1045"/>
                    <a:pt x="4724042" y="2906"/>
                  </a:cubicBezTo>
                  <a:cubicBezTo>
                    <a:pt x="4725903" y="4766"/>
                    <a:pt x="4726948" y="7290"/>
                    <a:pt x="4726948" y="9921"/>
                  </a:cubicBezTo>
                  <a:lnTo>
                    <a:pt x="4726948" y="217072"/>
                  </a:lnTo>
                  <a:cubicBezTo>
                    <a:pt x="4726948" y="219703"/>
                    <a:pt x="4725903" y="222227"/>
                    <a:pt x="4724042" y="224087"/>
                  </a:cubicBezTo>
                  <a:cubicBezTo>
                    <a:pt x="4722182" y="225948"/>
                    <a:pt x="4719658" y="226993"/>
                    <a:pt x="4717027" y="226993"/>
                  </a:cubicBezTo>
                  <a:lnTo>
                    <a:pt x="9921" y="226993"/>
                  </a:lnTo>
                  <a:cubicBezTo>
                    <a:pt x="7290" y="226993"/>
                    <a:pt x="4766" y="225948"/>
                    <a:pt x="2906" y="224087"/>
                  </a:cubicBezTo>
                  <a:cubicBezTo>
                    <a:pt x="1045" y="222227"/>
                    <a:pt x="0" y="219703"/>
                    <a:pt x="0" y="217072"/>
                  </a:cubicBezTo>
                  <a:lnTo>
                    <a:pt x="0" y="9921"/>
                  </a:lnTo>
                  <a:cubicBezTo>
                    <a:pt x="0" y="7290"/>
                    <a:pt x="1045" y="4766"/>
                    <a:pt x="2906" y="2906"/>
                  </a:cubicBezTo>
                  <a:cubicBezTo>
                    <a:pt x="4766" y="1045"/>
                    <a:pt x="7290" y="0"/>
                    <a:pt x="9921" y="0"/>
                  </a:cubicBezTo>
                  <a:close/>
                </a:path>
              </a:pathLst>
            </a:custGeom>
            <a:ln w="38100" cap="rnd">
              <a:solidFill>
                <a:srgbClr val="2B7EC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4726948" cy="265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9" name="Freeform 109"/>
          <p:cNvSpPr/>
          <p:nvPr/>
        </p:nvSpPr>
        <p:spPr>
          <a:xfrm>
            <a:off x="107575" y="388309"/>
            <a:ext cx="492478" cy="492478"/>
          </a:xfrm>
          <a:custGeom>
            <a:avLst/>
            <a:gdLst/>
            <a:ahLst/>
            <a:cxnLst/>
            <a:rect l="l" t="t" r="r" b="b"/>
            <a:pathLst>
              <a:path w="492478" h="492478">
                <a:moveTo>
                  <a:pt x="0" y="0"/>
                </a:moveTo>
                <a:lnTo>
                  <a:pt x="492477" y="0"/>
                </a:lnTo>
                <a:lnTo>
                  <a:pt x="492477" y="492477"/>
                </a:lnTo>
                <a:lnTo>
                  <a:pt x="0" y="492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0" name="Freeform 110"/>
          <p:cNvSpPr/>
          <p:nvPr/>
        </p:nvSpPr>
        <p:spPr>
          <a:xfrm>
            <a:off x="609577" y="141347"/>
            <a:ext cx="927734" cy="927734"/>
          </a:xfrm>
          <a:custGeom>
            <a:avLst/>
            <a:gdLst/>
            <a:ahLst/>
            <a:cxnLst/>
            <a:rect l="l" t="t" r="r" b="b"/>
            <a:pathLst>
              <a:path w="927734" h="927734">
                <a:moveTo>
                  <a:pt x="0" y="0"/>
                </a:moveTo>
                <a:lnTo>
                  <a:pt x="927734" y="0"/>
                </a:lnTo>
                <a:lnTo>
                  <a:pt x="927734" y="927734"/>
                </a:lnTo>
                <a:lnTo>
                  <a:pt x="0" y="927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1" name="TextBox 111"/>
          <p:cNvSpPr txBox="1"/>
          <p:nvPr/>
        </p:nvSpPr>
        <p:spPr>
          <a:xfrm>
            <a:off x="3909866" y="227155"/>
            <a:ext cx="8976013" cy="522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PROBLEM-DATA-GeoAI SOLUTION (PDGS) CANVAS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-3376259" y="1500078"/>
            <a:ext cx="11293164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569606" y="1400179"/>
            <a:ext cx="2433261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STAKEHOLDERS &amp; USERS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258175" y="1519876"/>
            <a:ext cx="2316874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CONTEXT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1447719" y="1538926"/>
            <a:ext cx="3173156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REQUIREMENTS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5039975" y="1548451"/>
            <a:ext cx="3173156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INTELLIGENT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5186952" y="5429254"/>
            <a:ext cx="2788696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IMPLEMENTATION ROADMAP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428669" y="5562600"/>
            <a:ext cx="3173156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VALUE &amp; IMPACT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7800975" y="5429254"/>
            <a:ext cx="3173156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ETHICS, PRIVACY &amp; SUSTAINABILITY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4724400" y="5572763"/>
            <a:ext cx="2206811" cy="2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TECHNOLOGY STACK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66023" y="5399397"/>
            <a:ext cx="2276414" cy="5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SOLUTION DESIGN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3315149" y="464625"/>
            <a:ext cx="2472162" cy="65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Title: ResiliNet 3D</a:t>
            </a:r>
          </a:p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Name: AI Slop Final Boss</a:t>
            </a:r>
          </a:p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Code: HACK_MY_060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662485" y="720610"/>
            <a:ext cx="11293164" cy="30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From Real-World Problems to Intelligent Geospatial Solutions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629408" y="103247"/>
            <a:ext cx="3971693" cy="294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Virtual Hackathon Submission</a:t>
            </a:r>
          </a:p>
        </p:txBody>
      </p:sp>
      <p:sp>
        <p:nvSpPr>
          <p:cNvPr id="125" name="AutoShape 125"/>
          <p:cNvSpPr/>
          <p:nvPr/>
        </p:nvSpPr>
        <p:spPr>
          <a:xfrm>
            <a:off x="707246" y="407589"/>
            <a:ext cx="0" cy="463867"/>
          </a:xfrm>
          <a:prstGeom prst="line">
            <a:avLst/>
          </a:prstGeom>
          <a:ln w="9525" cap="flat">
            <a:solidFill>
              <a:srgbClr val="B4B4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402336" y="221284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Kuala Krai gauge, December 2014: </a:t>
            </a:r>
            <a:r>
              <a:rPr sz="1450" b="1">
                <a:solidFill>
                  <a:srgbClr val="1A1A1A"/>
                </a:solidFill>
                <a:latin typeface="Arial"/>
              </a:rPr>
              <a:t>34.2 m</a:t>
            </a:r>
            <a:r>
              <a:rPr sz="1450" b="0">
                <a:solidFill>
                  <a:srgbClr val="1A1A1A"/>
                </a:solidFill>
                <a:latin typeface="Arial"/>
              </a:rPr>
              <a:t>, nine metres above danger. The town an island for five days, two networks down.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The towers did not drown. They lost power, and the fuel road closed first. In our valley </a:t>
            </a:r>
            <a:r>
              <a:rPr sz="1450" b="1">
                <a:solidFill>
                  <a:srgbClr val="1A1A1A"/>
                </a:solidFill>
                <a:latin typeface="Arial"/>
              </a:rPr>
              <a:t>36,614 people</a:t>
            </a:r>
            <a:r>
              <a:rPr sz="1450" b="0">
                <a:solidFill>
                  <a:srgbClr val="1A1A1A"/>
                </a:solidFill>
                <a:latin typeface="Arial"/>
              </a:rPr>
              <a:t> lose their phone, </a:t>
            </a:r>
            <a:r>
              <a:rPr sz="1450" b="1">
                <a:solidFill>
                  <a:srgbClr val="1A1A1A"/>
                </a:solidFill>
                <a:latin typeface="Arial"/>
              </a:rPr>
              <a:t>19,595</a:t>
            </a:r>
            <a:r>
              <a:rPr sz="1450" b="0">
                <a:solidFill>
                  <a:srgbClr val="1A1A1A"/>
                </a:solidFill>
                <a:latin typeface="Arial"/>
              </a:rPr>
              <a:t> of them on dry ground.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Nobody can see in time where the one tower and the one convoy should go.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95928" y="221284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Primary users: </a:t>
            </a:r>
            <a:r>
              <a:rPr sz="1550" b="0">
                <a:solidFill>
                  <a:srgbClr val="1A1A1A"/>
                </a:solidFill>
                <a:latin typeface="Arial"/>
              </a:rPr>
              <a:t>the state emergency communications officer; MCMC; the operators whose crews top up sites.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Beneficiaries: </a:t>
            </a:r>
            <a:r>
              <a:rPr sz="1550" b="0">
                <a:solidFill>
                  <a:srgbClr val="1A1A1A"/>
                </a:solidFill>
                <a:latin typeface="Arial"/>
              </a:rPr>
              <a:t>the </a:t>
            </a:r>
            <a:r>
              <a:rPr sz="1550" b="1">
                <a:solidFill>
                  <a:srgbClr val="1A1A1A"/>
                </a:solidFill>
                <a:latin typeface="Arial"/>
              </a:rPr>
              <a:t>101,384 people</a:t>
            </a:r>
            <a:r>
              <a:rPr sz="1550" b="0">
                <a:solidFill>
                  <a:srgbClr val="1A1A1A"/>
                </a:solidFill>
                <a:latin typeface="Arial"/>
              </a:rPr>
              <a:t> of the Dabong to Kuala Krai valley, counted from WorldPop.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The officer decides; the app ranks and explains.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580375" y="221284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0" dirty="0">
                <a:solidFill>
                  <a:srgbClr val="1A1A1A"/>
                </a:solidFill>
                <a:latin typeface="Arial"/>
              </a:rPr>
              <a:t>A 40 by 38 km box, Dabong to Kuala Krai, Kelantan, where the Galas meets the Lebir. One trunk road, one railway, </a:t>
            </a:r>
            <a:r>
              <a:rPr sz="1400" b="1" dirty="0">
                <a:solidFill>
                  <a:srgbClr val="1A1A1A"/>
                </a:solidFill>
                <a:latin typeface="Arial"/>
              </a:rPr>
              <a:t>12 existing sites</a:t>
            </a:r>
            <a:r>
              <a:rPr sz="1400" b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00" b="1" dirty="0">
                <a:solidFill>
                  <a:srgbClr val="1A1A1A"/>
                </a:solidFill>
                <a:latin typeface="Arial"/>
              </a:rPr>
              <a:t>Terrain decides line of sight; the river decides the roads; the roads decide which sites live.</a:t>
            </a:r>
          </a:p>
        </p:txBody>
      </p:sp>
      <p:pic>
        <p:nvPicPr>
          <p:cNvPr id="129" name="Picture 128" descr="derived-canvas-str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5" y="3931920"/>
            <a:ext cx="3145536" cy="748297"/>
          </a:xfrm>
          <a:prstGeom prst="rect">
            <a:avLst/>
          </a:prstGeom>
          <a:ln w="12700">
            <a:solidFill>
              <a:srgbClr val="C8CDD0"/>
            </a:solidFill>
          </a:ln>
        </p:spPr>
      </p:pic>
      <p:sp>
        <p:nvSpPr>
          <p:cNvPr id="130" name="TextBox 129"/>
          <p:cNvSpPr txBox="1"/>
          <p:nvPr/>
        </p:nvSpPr>
        <p:spPr>
          <a:xfrm>
            <a:off x="7580375" y="4736592"/>
            <a:ext cx="5305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5A666E"/>
                </a:solidFill>
                <a:latin typeface="Arial"/>
              </a:rPr>
              <a:t>Site stage at 27.0 m: the recommended hill.</a:t>
            </a:r>
            <a:endParaRPr lang="en-US" sz="900" dirty="0">
              <a:solidFill>
                <a:srgbClr val="5A666E"/>
              </a:solidFill>
              <a:latin typeface="Arial"/>
            </a:endParaRPr>
          </a:p>
          <a:p>
            <a:r>
              <a:rPr sz="900" dirty="0">
                <a:solidFill>
                  <a:srgbClr val="5A666E"/>
                </a:solidFill>
                <a:latin typeface="Arial"/>
              </a:rPr>
              <a:t>62 m grid; same engine for Beaufort and Yên Bái.</a:t>
            </a:r>
            <a:endParaRPr lang="en-US" sz="900" dirty="0">
              <a:solidFill>
                <a:srgbClr val="5A666E"/>
              </a:solidFill>
              <a:latin typeface="Arial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1173967" y="2212848"/>
            <a:ext cx="3145536" cy="3075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1" dirty="0">
                <a:solidFill>
                  <a:srgbClr val="1A1A1A"/>
                </a:solidFill>
                <a:latin typeface="Arial"/>
              </a:rPr>
              <a:t>All public and licensed: </a:t>
            </a:r>
            <a:r>
              <a:rPr sz="1500" b="0" dirty="0">
                <a:solidFill>
                  <a:srgbClr val="1A1A1A"/>
                </a:solidFill>
                <a:latin typeface="Arial"/>
              </a:rPr>
              <a:t>NASA SRTM terrain; Sentinel-2 surface; OpenStreetMap roads, rail, bridges, buildings; WorldPop 2020 people; OpenCellID cells for the 12 sites; the JPS gauge; WeatherNext 3 hourly basin rain with its spread; ERA5-Land and WeatherNext 2 replays.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00" b="0" dirty="0">
                <a:solidFill>
                  <a:srgbClr val="1A1A1A"/>
                </a:solidFill>
                <a:latin typeface="Arial"/>
              </a:rPr>
              <a:t>No operator or personal data; battery hours and river constants are stated assumptions.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767560" y="2212848"/>
            <a:ext cx="3145536" cy="240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0" dirty="0">
                <a:solidFill>
                  <a:srgbClr val="1A1A1A"/>
                </a:solidFill>
                <a:latin typeface="Arial"/>
              </a:rPr>
              <a:t>AI rain becomes a river level; height above the river turns it into a flood. A road is cut when 150 m goes under. A site dies when its fuel road closes and the battery runs out. Line of sight counts who loses signal.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50" b="1" dirty="0">
                <a:solidFill>
                  <a:srgbClr val="1A1A1A"/>
                </a:solidFill>
                <a:latin typeface="Arial"/>
              </a:rPr>
              <a:t>Report a site down and the chain decides again in 0.2 s.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2336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 dirty="0">
                <a:solidFill>
                  <a:srgbClr val="1A1A1A"/>
                </a:solidFill>
                <a:latin typeface="Arial"/>
              </a:rPr>
              <a:t>Three acts. Now: the gauge floods the valley. Forecast: the river curve and the hour the network goes dark. Site: the route wave lights what a truck can reach; hills show the people they bring back.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 dirty="0">
                <a:solidFill>
                  <a:srgbClr val="1A1A1A"/>
                </a:solidFill>
                <a:latin typeface="Arial"/>
              </a:rPr>
              <a:t>Two tiers.</a:t>
            </a:r>
            <a:r>
              <a:rPr sz="1550" b="0" dirty="0">
                <a:solidFill>
                  <a:srgbClr val="1A1A1A"/>
                </a:solidFill>
                <a:latin typeface="Arial"/>
              </a:rPr>
              <a:t> Local top ups are assumed; the one convoy and the one portable tower are ranked, linked to a surviving site.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95928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Node bake: SRTM, OSM, WorldPop and OpenCellID into a 62 m grid with HAND and viewsheds; Python for Earth Engine and WeatherNext.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>
                <a:solidFill>
                  <a:srgbClr val="1A1A1A"/>
                </a:solidFill>
                <a:latin typeface="Arial"/>
              </a:rPr>
              <a:t>Browser: Next.js, three.js. Static site, no server, no keys. Three valleys, one code base.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>
                <a:solidFill>
                  <a:srgbClr val="1A1A1A"/>
                </a:solidFill>
                <a:latin typeface="Arial"/>
              </a:rPr>
              <a:t>Runs offline on a laptop in the operations room, which is the condition of a flood.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543800" y="6236208"/>
            <a:ext cx="3393756" cy="287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Transparency: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a method sheet lists every source, licence and constant, read from the code.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Honesty: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the design storm is labelled synthetic; the 2014 replay shows its misses.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Privacy: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100 m WorldPop cells; no subscriber data.</a:t>
            </a:r>
            <a:endParaRPr lang="en-US" sz="1300" b="0" dirty="0">
              <a:solidFill>
                <a:srgbClr val="1A1A1A"/>
              </a:solidFill>
              <a:latin typeface="Arial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300" b="1" dirty="0">
                <a:solidFill>
                  <a:srgbClr val="1A1A1A"/>
                </a:solidFill>
                <a:latin typeface="Arial"/>
              </a:rPr>
              <a:t>Oversight: </a:t>
            </a:r>
            <a:r>
              <a:rPr lang="en-US" sz="1300" b="0" dirty="0">
                <a:solidFill>
                  <a:srgbClr val="1A1A1A"/>
                </a:solidFill>
                <a:latin typeface="Arial"/>
              </a:rPr>
              <a:t>the officer’s report wins over the model.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300" b="1" dirty="0">
                <a:solidFill>
                  <a:srgbClr val="1A1A1A"/>
                </a:solidFill>
                <a:latin typeface="Arial"/>
              </a:rPr>
              <a:t>Sustainability: </a:t>
            </a:r>
            <a:r>
              <a:rPr sz="1300" b="0" dirty="0">
                <a:solidFill>
                  <a:srgbClr val="1A1A1A"/>
                </a:solidFill>
                <a:latin typeface="Arial"/>
              </a:rPr>
              <a:t>megabytes, offline, modest hardware.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173967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 dirty="0">
                <a:solidFill>
                  <a:srgbClr val="1A1A1A"/>
                </a:solidFill>
                <a:latin typeface="Arial"/>
              </a:rPr>
              <a:t>At 27.0 m, </a:t>
            </a:r>
            <a:r>
              <a:rPr sz="1550" b="1" dirty="0">
                <a:solidFill>
                  <a:srgbClr val="1A1A1A"/>
                </a:solidFill>
                <a:latin typeface="Arial"/>
              </a:rPr>
              <a:t>36,614 people</a:t>
            </a:r>
            <a:r>
              <a:rPr sz="1550" b="0" dirty="0">
                <a:solidFill>
                  <a:srgbClr val="1A1A1A"/>
                </a:solidFill>
                <a:latin typeface="Arial"/>
              </a:rPr>
              <a:t> lose their phone by 04:00. Local top ups keep </a:t>
            </a:r>
            <a:r>
              <a:rPr sz="1550" b="1" dirty="0">
                <a:solidFill>
                  <a:srgbClr val="1A1A1A"/>
                </a:solidFill>
                <a:latin typeface="Arial"/>
              </a:rPr>
              <a:t>22,803</a:t>
            </a:r>
            <a:r>
              <a:rPr sz="1550" b="0" dirty="0">
                <a:solidFill>
                  <a:srgbClr val="1A1A1A"/>
                </a:solidFill>
                <a:latin typeface="Arial"/>
              </a:rPr>
              <a:t>. Of the 13,811 left, the convoy to Kuala Balah and the tower on Bukit Bedak keep </a:t>
            </a:r>
            <a:r>
              <a:rPr sz="1550" b="1" dirty="0">
                <a:solidFill>
                  <a:srgbClr val="1A1A1A"/>
                </a:solidFill>
                <a:latin typeface="Arial"/>
              </a:rPr>
              <a:t>8,604</a:t>
            </a:r>
            <a:r>
              <a:rPr sz="1550" b="0" dirty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0" dirty="0">
                <a:solidFill>
                  <a:srgbClr val="1A1A1A"/>
                </a:solidFill>
                <a:latin typeface="Arial"/>
              </a:rPr>
              <a:t>Coordinates in seconds, with a reason the officer can defend.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550" b="1" dirty="0">
                <a:solidFill>
                  <a:srgbClr val="1A1A1A"/>
                </a:solidFill>
                <a:latin typeface="Arial"/>
              </a:rPr>
              <a:t>Report Kuala Balah down and the plan moves to Jelawang: 5,141 kept.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4767560" y="6236208"/>
            <a:ext cx="31455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Now: </a:t>
            </a:r>
            <a:r>
              <a:rPr sz="1450" b="0">
                <a:solidFill>
                  <a:srgbClr val="1A1A1A"/>
                </a:solidFill>
                <a:latin typeface="Arial"/>
              </a:rPr>
              <a:t>three valleys, three real rain feeds, a December 2014 replay checked against the DID flood maps: </a:t>
            </a:r>
            <a:r>
              <a:rPr sz="1450" b="1">
                <a:solidFill>
                  <a:srgbClr val="1A1A1A"/>
                </a:solidFill>
                <a:latin typeface="Arial"/>
              </a:rPr>
              <a:t>IoU 0.52 in Kuala Krai town, 0.55 in Dabong</a:t>
            </a:r>
            <a:r>
              <a:rPr sz="1450" b="0">
                <a:solidFill>
                  <a:srgbClr val="1A1A1A"/>
                </a:solidFill>
                <a:latin typeface="Arial"/>
              </a:rPr>
              <a:t>. It under floods the main floodplain, over floods tributaries, and says so.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Arial"/>
              </a:rPr>
              <a:t>Next: </a:t>
            </a:r>
            <a:r>
              <a:rPr sz="1450" b="0">
                <a:solidFill>
                  <a:srgbClr val="1A1A1A"/>
                </a:solidFill>
                <a:latin typeface="Arial"/>
              </a:rPr>
              <a:t>a live JPS gauge feed, the operator’s site and battery inventory, a rating curve per reach, radio propagation over line of sight.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91840" y="9473184"/>
            <a:ext cx="1453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600" b="1">
                <a:solidFill>
                  <a:srgbClr val="1A1A1A"/>
                </a:solidFill>
                <a:latin typeface="Arial"/>
              </a:rPr>
              <a:t>ResiliNet 3D: the tower does not drown, its power goes. </a:t>
            </a:r>
            <a:r>
              <a:rPr sz="1600" b="0">
                <a:solidFill>
                  <a:srgbClr val="1A1A1A"/>
                </a:solidFill>
                <a:latin typeface="Arial"/>
              </a:rPr>
              <a:t>See where the one portable tower and the one convoy keep the most people on a working phone, before the roads close.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779</Words>
  <Application>Microsoft Macintosh PowerPoint</Application>
  <PresentationFormat>Custom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Helvetica World Bold</vt:lpstr>
      <vt:lpstr>Helvetica World</vt:lpstr>
      <vt:lpstr>Calibri</vt:lpstr>
      <vt:lpstr>Arial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PDGS_Canvas_Template_v01</dc:title>
  <cp:lastModifiedBy>MUHAMMAD ZAHIRUDIN BIN SHAHRUDIN</cp:lastModifiedBy>
  <cp:revision>3</cp:revision>
  <dcterms:created xsi:type="dcterms:W3CDTF">2006-08-16T00:00:00Z</dcterms:created>
  <dcterms:modified xsi:type="dcterms:W3CDTF">2026-09-21T07:44:19Z</dcterms:modified>
  <dc:identifier>DAHPUYFABZQ</dc:identifier>
</cp:coreProperties>
</file>