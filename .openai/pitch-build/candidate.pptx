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4f122b657e4ecf" /><Relationship Type="http://schemas.openxmlformats.org/officeDocument/2006/relationships/extended-properties" Target="/docProps/app.xml" Id="R25f028334598437e" /><Relationship Type="http://schemas.openxmlformats.org/officeDocument/2006/relationships/officeDocument" Target="/ppt/presentation.xml" Id="Raf3b2645a93d4ebf" /></Relationships>
</file>

<file path=ppt/presentation.xml><?xml version="1.0" encoding="utf-8"?>
<p:presentation xmlns:p="http://schemas.openxmlformats.org/presentationml/2006/main">
  <p:sldMasterIdLst>
    <p:sldMasterId xmlns:r="http://schemas.openxmlformats.org/officeDocument/2006/relationships" id="2147483648" r:id="R138d7919539c49f2"/>
  </p:sldMasterIdLst>
  <p:notesMasterIdLst>
    <p:notesMasterId xmlns:r="http://schemas.openxmlformats.org/officeDocument/2006/relationships" r:id="Ra443989ab3254fc6"/>
  </p:notesMasterIdLst>
  <p:sldIdLst>
    <p:sldId xmlns:r="http://schemas.openxmlformats.org/officeDocument/2006/relationships" id="256" r:id="Rbced5ddd01bc411d"/>
    <p:sldId xmlns:r="http://schemas.openxmlformats.org/officeDocument/2006/relationships" id="257" r:id="R9022ec1e919d45e7"/>
    <p:sldId xmlns:r="http://schemas.openxmlformats.org/officeDocument/2006/relationships" id="258" r:id="R53a34cea05db45ec"/>
    <p:sldId xmlns:r="http://schemas.openxmlformats.org/officeDocument/2006/relationships" id="259" r:id="Rf9cd3aeb7772475a"/>
    <p:sldId xmlns:r="http://schemas.openxmlformats.org/officeDocument/2006/relationships" id="260" r:id="R619307ba169c4762"/>
    <p:sldId xmlns:r="http://schemas.openxmlformats.org/officeDocument/2006/relationships" id="261" r:id="Rf87002b23c1748d9"/>
    <p:sldId xmlns:r="http://schemas.openxmlformats.org/officeDocument/2006/relationships" id="262" r:id="Red14eb4d79334223"/>
    <p:sldId xmlns:r="http://schemas.openxmlformats.org/officeDocument/2006/relationships" id="263" r:id="R0df7e3c6fd774193"/>
    <p:sldId xmlns:r="http://schemas.openxmlformats.org/officeDocument/2006/relationships" id="264" r:id="R08e8778efac7446e"/>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617c4eeb784380" /><Relationship Type="http://schemas.openxmlformats.org/officeDocument/2006/relationships/slideMaster" Target="/ppt/slideMasters/slideMaster1.xml" Id="R138d7919539c49f2" /><Relationship Type="http://schemas.openxmlformats.org/officeDocument/2006/relationships/notesMaster" Target="/ppt/notesMasters/notesMaster1.xml" Id="Ra443989ab3254fc6" /><Relationship Type="http://schemas.openxmlformats.org/officeDocument/2006/relationships/presProps" Target="/ppt/presProps.xml" Id="R99185bc73a0a4ba5" /><Relationship Type="http://schemas.openxmlformats.org/officeDocument/2006/relationships/tableStyles" Target="/ppt/tableStyles.xml" Id="R55efd16d6f1046da" /><Relationship Type="http://schemas.openxmlformats.org/officeDocument/2006/relationships/slide" Target="/ppt/slides/slide1.xml" Id="Rbced5ddd01bc411d" /><Relationship Type="http://schemas.openxmlformats.org/officeDocument/2006/relationships/slide" Target="/ppt/slides/slide2.xml" Id="R9022ec1e919d45e7" /><Relationship Type="http://schemas.openxmlformats.org/officeDocument/2006/relationships/slide" Target="/ppt/slides/slide3.xml" Id="R53a34cea05db45ec" /><Relationship Type="http://schemas.openxmlformats.org/officeDocument/2006/relationships/slide" Target="/ppt/slides/slide4.xml" Id="Rf9cd3aeb7772475a" /><Relationship Type="http://schemas.openxmlformats.org/officeDocument/2006/relationships/slide" Target="/ppt/slides/slide5.xml" Id="R619307ba169c4762" /><Relationship Type="http://schemas.openxmlformats.org/officeDocument/2006/relationships/slide" Target="/ppt/slides/slide6.xml" Id="Rf87002b23c1748d9" /><Relationship Type="http://schemas.openxmlformats.org/officeDocument/2006/relationships/slide" Target="/ppt/slides/slide7.xml" Id="Red14eb4d79334223" /><Relationship Type="http://schemas.openxmlformats.org/officeDocument/2006/relationships/slide" Target="/ppt/slides/slide8.xml" Id="R0df7e3c6fd774193" /><Relationship Type="http://schemas.openxmlformats.org/officeDocument/2006/relationships/slide" Target="/ppt/slides/slide9.xml" Id="R08e8778efac744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c84dcfcf5254b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44a5c006af449d" /><Relationship Type="http://schemas.openxmlformats.org/officeDocument/2006/relationships/notesMaster" Target="/ppt/notesMasters/notesMaster1.xml" Id="R9b411a3decfb492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c28b15883c45d2" /><Relationship Type="http://schemas.openxmlformats.org/officeDocument/2006/relationships/notesMaster" Target="/ppt/notesMasters/notesMaster1.xml" Id="R55b7586750c044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7e72b491974454" /><Relationship Type="http://schemas.openxmlformats.org/officeDocument/2006/relationships/notesMaster" Target="/ppt/notesMasters/notesMaster1.xml" Id="R07347ece00ff4ee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6a78b85c364c5f" /><Relationship Type="http://schemas.openxmlformats.org/officeDocument/2006/relationships/notesMaster" Target="/ppt/notesMasters/notesMaster1.xml" Id="R8e9b58756f474b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80b01005b04ec2" /><Relationship Type="http://schemas.openxmlformats.org/officeDocument/2006/relationships/notesMaster" Target="/ppt/notesMasters/notesMaster1.xml" Id="R7ae7f8abebf143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5a77713d494786" /><Relationship Type="http://schemas.openxmlformats.org/officeDocument/2006/relationships/notesMaster" Target="/ppt/notesMasters/notesMaster1.xml" Id="R6cf514ab09c24c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444294c16742af" /><Relationship Type="http://schemas.openxmlformats.org/officeDocument/2006/relationships/notesMaster" Target="/ppt/notesMasters/notesMaster1.xml" Id="R4f823a7490804c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f8c121b38774d96" /><Relationship Type="http://schemas.openxmlformats.org/officeDocument/2006/relationships/notesMaster" Target="/ppt/notesMasters/notesMaster1.xml" Id="R59a45a22f30b41c3" /></Relationships>
</file>

<file path=ppt/notesSlides/_rels/notesSlide9.xml.rels>&#65279;<?xml version="1.0" encoding="utf-8"?><Relationships xmlns="http://schemas.openxmlformats.org/package/2006/relationships"><Relationship Type="http://schemas.openxmlformats.org/officeDocument/2006/relationships/slide" Target="/ppt/slides/slide9.xml" Id="R5b566dbeaa664a84" /><Relationship Type="http://schemas.openxmlformats.org/officeDocument/2006/relationships/notesMaster" Target="/ppt/notesMasters/notesMaster1.xml" Id="Rdfca561da2144d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0:00–0:25</a:t>
            </a:r>
          </a:p>
          <a:p xmlns:a="http://schemas.openxmlformats.org/drawingml/2006/main">
            <a:r>
              <a:t/>
            </a:r>
          </a:p>
          <a:p xmlns:a="http://schemas.openxmlformats.org/drawingml/2006/main">
            <a:r>
              <a:t>Imagine being on a roof as floodwater rises. Your phone has a full battery, but no service. The tower is still standing on dry ground. A flood can cut its access, its power, or its connection to the rest of the network. ResiliNet helps emergency communications teams decide where to send a portable tower before the roads close.</a:t>
            </a:r>
          </a:p>
          <a:p xmlns:a="http://schemas.openxmlformats.org/drawingml/2006/main">
            <a:r>
              <a:t/>
            </a:r>
          </a:p>
          <a:p xmlns:a="http://schemas.openxmlformats.org/drawingml/2006/main">
            <a:r>
              <a:t/>
            </a:r>
          </a:p>
          <a:p xmlns:a="http://schemas.openxmlformats.org/drawingml/2006/main">
            <a:r>
              <a:t/>
            </a:r>
          </a:p>
          <a:p xmlns:a="http://schemas.openxmlformats.org/drawingml/2006/main">
            <a:r>
              <a:t>SOURCES</a:t>
            </a:r>
          </a:p>
          <a:p xmlns:a="http://schemas.openxmlformats.org/drawingml/2006/main">
            <a:r>
              <a:t>Illustrative opening, not a documented account of a particular person or tower. Mechanism implemented in lib/network.ts.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0:25–0:50</a:t>
            </a:r>
          </a:p>
          <a:p xmlns:a="http://schemas.openxmlformats.org/drawingml/2006/main">
            <a:r>
              <a:t/>
            </a:r>
          </a:p>
          <a:p xmlns:a="http://schemas.openxmlformats.org/drawingml/2006/main">
            <a:r>
              <a:t>In December 2014, about 237,000 people were displaced nationwide. Kelantan was at the centre of that crisis. Families in cut-off communities pleaded for help through social media when they could connect. Communication let them ask for help and tell others where they were. This history motivates our project. The numbers that follow come from a simulated storm, not that historical event.</a:t>
            </a:r>
          </a:p>
          <a:p xmlns:a="http://schemas.openxmlformats.org/drawingml/2006/main">
            <a:r>
              <a:t/>
            </a:r>
          </a:p>
          <a:p xmlns:a="http://schemas.openxmlformats.org/drawingml/2006/main">
            <a:r>
              <a:t>Do not imply that all displaced people lost service. Do not claim every mast survived.</a:t>
            </a:r>
          </a:p>
          <a:p xmlns:a="http://schemas.openxmlformats.org/drawingml/2006/main">
            <a:r>
              <a:t/>
            </a:r>
          </a:p>
          <a:p xmlns:a="http://schemas.openxmlformats.org/drawingml/2006/main">
            <a:r>
              <a:t>SOURCES</a:t>
            </a:r>
          </a:p>
          <a:p xmlns:a="http://schemas.openxmlformats.org/drawingml/2006/main">
            <a:r>
              <a:t>https://www.malaysiakini.com/news/284861 (237,037 nationally at 8:30 pm on 30 Dec; not a Kelantan-only count).</a:t>
            </a:r>
          </a:p>
          <a:p xmlns:a="http://schemas.openxmlformats.org/drawingml/2006/main">
            <a:r>
              <a:t>https://blog.limkitsiang.com/2014/12/27/kelantan-flood-victims-plead-for-aid-via-social-media/amp/ (reproduces The Malaysian Insider, 26 Dec).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0:50–1:30</a:t>
            </a:r>
          </a:p>
          <a:p xmlns:a="http://schemas.openxmlformats.org/drawingml/2006/main">
            <a:r>
              <a:t/>
            </a:r>
          </a:p>
          <a:p xmlns:a="http://schemas.openxmlformats.org/drawingml/2006/main">
            <a:r>
              <a:t>Here is the distinction that matters. The flood map and the communications map answer different questions. A flooded home under a working tower may still call for help. A dry village under a failed tower may not. In our demonstration scenario, 19,595 people occupy cells that remain dry but lose modelled coverage. That is a subset of the people we will see on the next slide. A map of water alone does not reveal that need. ResiliNet follows the dependencies that connect the rain, roads, towers, and people.</a:t>
            </a:r>
          </a:p>
          <a:p xmlns:a="http://schemas.openxmlformats.org/drawingml/2006/main">
            <a:r>
              <a:t/>
            </a:r>
          </a:p>
          <a:p xmlns:a="http://schemas.openxmlformats.org/drawingml/2006/main">
            <a:r>
              <a:t>Counts represent estimated people living in modelled coverage areas, not measured phones, subscribers, calls, or lives saved.</a:t>
            </a:r>
          </a:p>
          <a:p xmlns:a="http://schemas.openxmlformats.org/drawingml/2006/main">
            <a:r>
              <a:t/>
            </a:r>
          </a:p>
          <a:p xmlns:a="http://schemas.openxmlformats.org/drawingml/2006/main">
            <a:r>
              <a:t>SOURCES</a:t>
            </a:r>
          </a:p>
          <a:p xmlns:a="http://schemas.openxmlformats.org/drawingml/2006/main">
            <a:r>
              <a:t>ResiliNet scenario. Kelantan, gauge 27.0 m, planning hour +14 h. Model estimates, not observed outages.</a:t>
            </a:r>
          </a:p>
          <a:p xmlns:a="http://schemas.openxmlformats.org/drawingml/2006/main">
            <a:r>
              <a:t>Verified against coverageHole and the population-aligned HAND raster in the current repository. Dry means HAND is 255 or at least the simulated flood threshold at +14 h. 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1:30–2:05</a:t>
            </a:r>
          </a:p>
          <a:p xmlns:a="http://schemas.openxmlformats.org/drawingml/2006/main">
            <a:r>
              <a:t/>
            </a:r>
          </a:p>
          <a:p xmlns:a="http://schemas.openxmlformats.org/drawingml/2006/main">
            <a:r>
              <a:t>Across this valley, the scenario projects 36,614 people without coverage at hour fourteen, including the dry-ground group. The operator has one portable tower. Which hill should it go to? A high hill is not enough if the truck cannot reach it, terrain blocks the villages, or there is no working network to connect to. Our prototype compares fifteen candidate locations. Seven are usable here. It gives the officer a specific place to investigate, before roads close.</a:t>
            </a:r>
          </a:p>
          <a:p xmlns:a="http://schemas.openxmlformats.org/drawingml/2006/main">
            <a:r>
              <a:t/>
            </a:r>
          </a:p>
          <a:p xmlns:a="http://schemas.openxmlformats.org/drawingml/2006/main">
            <a:r>
              <a:t>The original draft’s 30 hills is not the current dataset. The four-hour deadline applies to a support convoy’s latest arrival, not a universal portable-tower departure deadline. Use relative hours, not a fixed 04:00 wall clock.</a:t>
            </a:r>
          </a:p>
          <a:p xmlns:a="http://schemas.openxmlformats.org/drawingml/2006/main">
            <a:r>
              <a:t/>
            </a:r>
          </a:p>
          <a:p xmlns:a="http://schemas.openxmlformats.org/drawingml/2006/main">
            <a:r>
              <a:t>SOURCES</a:t>
            </a:r>
          </a:p>
          <a:p xmlns:a="http://schemas.openxmlformats.org/drawingml/2006/main">
            <a:r>
              <a:t>ResiliNet scenario. Kelantan, gauge 27.0 m, planning hour +14 h. Model estimates, not observed outages.</a:t>
            </a:r>
          </a:p>
          <a:p xmlns:a="http://schemas.openxmlformats.org/drawingml/2006/main">
            <a:r>
              <a:t>node scripts/check-sites.mjs kelantan 27</a:t>
            </a:r>
          </a:p>
          <a:p xmlns:a="http://schemas.openxmlformats.org/drawingml/2006/main">
            <a:r>
              <a:t>public/terrain/terrain.json: 15 candidate sites; 7 usable reachable sites.</a:t>
            </a:r>
          </a:p>
          <a:p xmlns:a="http://schemas.openxmlformats.org/drawingml/2006/main">
            <a:r>
              <a:t>WorldPop 2020.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2:05–2:45</a:t>
            </a:r>
          </a:p>
          <a:p xmlns:a="http://schemas.openxmlformats.org/drawingml/2006/main">
            <a:r>
              <a:t/>
            </a:r>
          </a:p>
          <a:p xmlns:a="http://schemas.openxmlformats.org/drawingml/2006/main">
            <a:r>
              <a:t>ResiliNet tests each location in three ways. Can the truck reach it before access closes? Can the tower see people who would otherwise lose signal? Can it connect back to a working part of the network? The model connects rainfall to river level, river level to road access, and tower failures to coverage loss. The map shows the reachable roads and compares candidate sites over real terrain. It uses elevation, a road graph, line-of-sight coverage, and population estimates. The innovation is bringing these dependencies into one decision that an officer can inspect.</a:t>
            </a:r>
          </a:p>
          <a:p xmlns:a="http://schemas.openxmlformats.org/drawingml/2006/main">
            <a:r>
              <a:t/>
            </a:r>
          </a:p>
          <a:p xmlns:a="http://schemas.openxmlformats.org/drawingml/2006/main">
            <a:r>
              <a:t>Explain “links back” as the portable tower’s connection to the wider mobile network. The storm and several physical thresholds are illustrative.</a:t>
            </a:r>
          </a:p>
          <a:p xmlns:a="http://schemas.openxmlformats.org/drawingml/2006/main">
            <a:r>
              <a:t/>
            </a:r>
          </a:p>
          <a:p xmlns:a="http://schemas.openxmlformats.org/drawingml/2006/main">
            <a:r>
              <a:t>SOURCES</a:t>
            </a:r>
          </a:p>
          <a:p xmlns:a="http://schemas.openxmlformats.org/drawingml/2006/main">
            <a:r>
              <a:t>ResiliNet scenario. Kelantan, gauge 27.0 m, planning hour +14 h. Model estimates, not observed outages.</a:t>
            </a:r>
          </a:p>
          <a:p xmlns:a="http://schemas.openxmlformats.org/drawingml/2006/main">
            <a:r>
              <a:t>Implementation: lib/forecast.ts, lib/routing.ts, lib/network.ts, lib/viewshed.ts, lib/sites.ts, lib/recommend.ts.</a:t>
            </a:r>
          </a:p>
          <a:p xmlns:a="http://schemas.openxmlformats.org/drawingml/2006/main">
            <a:r>
              <a:t>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2:45–3:20</a:t>
            </a:r>
          </a:p>
          <a:p xmlns:a="http://schemas.openxmlformats.org/drawingml/2006/main">
            <a:r>
              <a:t/>
            </a:r>
          </a:p>
          <a:p xmlns:a="http://schemas.openxmlformats.org/drawingml/2006/main">
            <a:r>
              <a:t>The plan combines a portable tower at Bukit Bedak with generator support at Kuala Balah. After routine support, 13,811 people still face an outage. This additional plan keeps 8,604 connected: 1,128 through the portable tower and 7,476 through generator support. Including routine support, the guided demo shows 31,407 benefiting overall; 5,207 remain without coverage. These are population estimates within modelled radio coverage, not confirmed working calls or a deployment result. The route and connection are inspectable in the app.</a:t>
            </a:r>
          </a:p>
          <a:p xmlns:a="http://schemas.openxmlformats.org/drawingml/2006/main">
            <a:r>
              <a:t/>
            </a:r>
          </a:p>
          <a:p xmlns:a="http://schemas.openxmlformats.org/drawingml/2006/main">
            <a:r>
              <a:t>The guided demo displays 31,407 including routine support. The full app displays 8,604 additional to that baseline. Both reconcile to 36,614 initially at risk.</a:t>
            </a:r>
          </a:p>
          <a:p xmlns:a="http://schemas.openxmlformats.org/drawingml/2006/main">
            <a:r>
              <a:t/>
            </a:r>
          </a:p>
          <a:p xmlns:a="http://schemas.openxmlformats.org/drawingml/2006/main">
            <a:r>
              <a:t>SOURCES</a:t>
            </a:r>
          </a:p>
          <a:p xmlns:a="http://schemas.openxmlformats.org/drawingml/2006/main">
            <a:r>
              <a:t>ResiliNet scenario. Kelantan, gauge 27.0 m, planning hour +14 h. Model estimates, not observed outages.</a:t>
            </a:r>
          </a:p>
          <a:p xmlns:a="http://schemas.openxmlformats.org/drawingml/2006/main">
            <a:r>
              <a:t>node scripts/check-sites.mjs kelantan 27: baseline keeps 22,803; residual 13,811; combined plan 8,604 = support at Kuala Balah 7,476 + portable tower 1,128; remaining 5,207.</a:t>
            </a:r>
          </a:p>
          <a:p xmlns:a="http://schemas.openxmlformats.org/drawingml/2006/main">
            <a:r>
              <a:t>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3:20–3:55</a:t>
            </a:r>
          </a:p>
          <a:p xmlns:a="http://schemas.openxmlformats.org/drawingml/2006/main">
            <a:r>
              <a:t/>
            </a:r>
          </a:p>
          <a:p xmlns:a="http://schemas.openxmlformats.org/drawingml/2006/main">
            <a:r>
              <a:t>Public data supplies the terrain, roads, population and tower records. WeatherNext 3 supplies an AI forecast option. This demonstration uses a synthetic storm so the decision unfolds in one sitting. We checked parts of the chain against December 2014: bridge and town-access checks match, one village outage is missed, and the operator comparison is partial. The river model needs calibration. We expose those limits because a dispatch decision needs traceable assumptions. Forecast accuracy and real-world benefit remain to be established.</a:t>
            </a:r>
          </a:p>
          <a:p xmlns:a="http://schemas.openxmlformats.org/drawingml/2006/main">
            <a:r>
              <a:t/>
            </a:r>
          </a:p>
          <a:p xmlns:a="http://schemas.openxmlformats.org/drawingml/2006/main">
            <a:r>
              <a:t>Historical checks are partial mechanism checks at a reported peak, not an end-to-end validated 2014 forecast. The shipped rainfall model does not reproduce the historical peak.</a:t>
            </a:r>
          </a:p>
          <a:p xmlns:a="http://schemas.openxmlformats.org/drawingml/2006/main">
            <a:r>
              <a:t/>
            </a:r>
          </a:p>
          <a:p xmlns:a="http://schemas.openxmlformats.org/drawingml/2006/main">
            <a:r>
              <a:t>SOURCES</a:t>
            </a:r>
          </a:p>
          <a:p xmlns:a="http://schemas.openxmlformats.org/drawingml/2006/main">
            <a:r>
              <a:t>https://science.nasa.gov/mission/srtm/</a:t>
            </a:r>
          </a:p>
          <a:p xmlns:a="http://schemas.openxmlformats.org/drawingml/2006/main">
            <a:r>
              <a:t>https://www.openstreetmap.org/copyright</a:t>
            </a:r>
          </a:p>
          <a:p xmlns:a="http://schemas.openxmlformats.org/drawingml/2006/main">
            <a:r>
              <a:t>https://hub.worldpop.org/geodata/summary?id=49771</a:t>
            </a:r>
          </a:p>
          <a:p xmlns:a="http://schemas.openxmlformats.org/drawingml/2006/main">
            <a:r>
              <a:t>https://opencellid.org/</a:t>
            </a:r>
          </a:p>
          <a:p xmlns:a="http://schemas.openxmlformats.org/drawingml/2006/main">
            <a:r>
              <a:t>https://deepmind.google/science/weathernext/</a:t>
            </a:r>
          </a:p>
          <a:p xmlns:a="http://schemas.openxmlformats.org/drawingml/2006/main">
            <a:r>
              <a:t>https://cds.climate.copernicus.eu/datasets/reanalysis-era5-land</a:t>
            </a:r>
          </a:p>
          <a:p xmlns:a="http://schemas.openxmlformats.org/drawingml/2006/main">
            <a:r>
              <a:t>node scripts/check-hindcast.mjs; lib/method.ts; README.md</a:t>
            </a:r>
          </a:p>
          <a:p xmlns:a="http://schemas.openxmlformats.org/drawingml/2006/main">
            <a:r>
              <a:t>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3:55–4:25</a:t>
            </a:r>
          </a:p>
          <a:p xmlns:a="http://schemas.openxmlformats.org/drawingml/2006/main">
            <a:r>
              <a:t/>
            </a:r>
          </a:p>
          <a:p xmlns:a="http://schemas.openxmlformats.org/drawingml/2006/main">
            <a:r>
              <a:t>The same engine runs in the Galas valley in Kelantan and the Padas in Sabah, each with prepared local data. Once the application and assets are installed locally, teams can explore the scenario and enter site reports without an internet connection. Fresh forecasts still require an update. Two valleys demonstrate portability, not nationwide readiness. Operational use needs verified operator infrastructure, local hydrology and ground checks.</a:t>
            </a:r>
          </a:p>
          <a:p xmlns:a="http://schemas.openxmlformats.org/drawingml/2006/main">
            <a:r>
              <a:t/>
            </a:r>
          </a:p>
          <a:p xmlns:a="http://schemas.openxmlformats.org/drawingml/2006/main">
            <a:r>
              <a:t>An initial download and local static serving/setup are required. Building or refreshing datasets can require online services and credentials. No claim of a completed operational deployment.</a:t>
            </a:r>
          </a:p>
          <a:p xmlns:a="http://schemas.openxmlformats.org/drawingml/2006/main">
            <a:r>
              <a:t/>
            </a:r>
          </a:p>
          <a:p xmlns:a="http://schemas.openxmlformats.org/drawingml/2006/main">
            <a:r>
              <a:t>SOURCES</a:t>
            </a:r>
          </a:p>
          <a:p xmlns:a="http://schemas.openxmlformats.org/drawingml/2006/main">
            <a:r>
              <a:t>Repository: lib/maps.ts; public/terrain; public/terrain-padas; scripts/bake-terrain.mjs; next.config.ts; README.md.</a:t>
            </a:r>
          </a:p>
          <a:p xmlns:a="http://schemas.openxmlformats.org/drawingml/2006/main">
            <a:r>
              <a:t>App screenshots: ResiliNet local prototype. Terrain: NASA SRTM. Imagery: Sentinel-2 cloudless 2020, EOX IT Services GmbH, CC BY 4.0, based on modified Copernicus Sentinel data 2020. Roads and settlements: OpenStreetMap contributors, ODbL. Population: WorldPop 2020, CC BY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4:25–4:50, then switch by 5:00</a:t>
            </a:r>
          </a:p>
          <a:p xmlns:a="http://schemas.openxmlformats.org/drawingml/2006/main">
            <a:r>
              <a:t/>
            </a:r>
          </a:p>
          <a:p xmlns:a="http://schemas.openxmlformats.org/drawingml/2006/main">
            <a:r>
              <a:t>Floods change while you plan. When a report says a tower has failed, the officer updates it and the recommendation changes. We are seeking an operator partner to provide verified sites, outage logs and field checks. The pilot should compare predicted outages and recommended access routes with actual conditions. Let me show that decision in two minutes.</a:t>
            </a:r>
          </a:p>
          <a:p xmlns:a="http://schemas.openxmlformats.org/drawingml/2006/main">
            <a:r>
              <a:t/>
            </a:r>
          </a:p>
          <a:p xmlns:a="http://schemas.openxmlformats.org/drawingml/2006/main">
            <a:r>
              <a:t>LIVE DEMO 5:00–7:00</a:t>
            </a:r>
          </a:p>
          <a:p xmlns:a="http://schemas.openxmlformats.org/drawingml/2006/main">
            <a:r>
              <a:t>Use /explore for a controlled demonstration. The homepage loops automatically; pause it if using it instead.</a:t>
            </a:r>
          </a:p>
          <a:p xmlns:a="http://schemas.openxmlformats.org/drawingml/2006/main">
            <a:r>
              <a:t>5:00–5:20: Kelantan, Scenario, 27.0 m. Point to real terrain and the communities.</a:t>
            </a:r>
          </a:p>
          <a:p xmlns:a="http://schemas.openxmlformats.org/drawingml/2006/main">
            <a:r>
              <a:t>5:20–5:42: Forecast. Let the storm play, then select the default +14 h outage.</a:t>
            </a:r>
          </a:p>
          <a:p xmlns:a="http://schemas.openxmlformats.org/drawingml/2006/main">
            <a:r>
              <a:t>5:42–6:12: Site, Start. Explain the three location checks while the roads and candidates animate.</a:t>
            </a:r>
          </a:p>
          <a:p xmlns:a="http://schemas.openxmlformats.org/drawingml/2006/main">
            <a:r>
              <a:t>6:12–6:35: Show the Bukit Bedak recommendation and 8,604 additional people. Mention the separate routine-support baseline so the totals are clear.</a:t>
            </a:r>
          </a:p>
          <a:p xmlns:a="http://schemas.openxmlformats.org/drawingml/2006/main">
            <a:r>
              <a:t>6:35–6:55: Tap Kuala Balah once to report it down; show the changed plan. Say the number on screen rather than precommitting to one.</a:t>
            </a:r>
          </a:p>
          <a:p xmlns:a="http://schemas.openxmlformats.org/drawingml/2006/main">
            <a:r>
              <a:t>6:55–7:00: Close with the request for an operator-data pilot.</a:t>
            </a:r>
          </a:p>
          <a:p xmlns:a="http://schemas.openxmlformats.org/drawingml/2006/main">
            <a:r>
              <a:t>Rehearse the exact browser build and keep the result slide as the fallback if the live demo fails.</a:t>
            </a:r>
          </a:p>
          <a:p xmlns:a="http://schemas.openxmlformats.org/drawingml/2006/main">
            <a:r>
              <a:t/>
            </a:r>
          </a:p>
          <a:p xmlns:a="http://schemas.openxmlformats.org/drawingml/2006/main">
            <a:r>
              <a:t>SOURCES</a:t>
            </a:r>
          </a:p>
          <a:p xmlns:a="http://schemas.openxmlformats.org/drawingml/2006/main">
            <a:r>
              <a:t>Implementation: components/resilinet-dashboard.tsx, onSiteTap and buildPlan. The draft’s 0.2-second claim is omitted because no reproducible device-specific benchmark was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b9c46f69bc4d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f704d069a246e8" /><Relationship Type="http://schemas.openxmlformats.org/officeDocument/2006/relationships/slideLayout" Target="/ppt/slideLayouts/slideLayout1.xml" Id="R239044f6fa4249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9044f6fa4249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41d51c899bd4f46" /><Relationship Type="http://schemas.openxmlformats.org/officeDocument/2006/relationships/notesSlide" Target="/ppt/notesSlides/notesSlide1.xml" Id="R91541f24c1ad41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6c9ad1e4694434" /><Relationship Type="http://schemas.openxmlformats.org/officeDocument/2006/relationships/notesSlide" Target="/ppt/notesSlides/notesSlide2.xml" Id="Ra0312d59f33d46a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ac9486413a476d" /><Relationship Type="http://schemas.openxmlformats.org/officeDocument/2006/relationships/notesSlide" Target="/ppt/notesSlides/notesSlide3.xml" Id="R1d1726e7a8584b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83117b874e5412f" /><Relationship Type="http://schemas.openxmlformats.org/officeDocument/2006/relationships/notesSlide" Target="/ppt/notesSlides/notesSlide4.xml" Id="Rec813dbda1f946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bab3bbd56b4c2b" /><Relationship Type="http://schemas.openxmlformats.org/officeDocument/2006/relationships/image" Target="/ppt/media/image.jpeg" Id="R5a6020b29c7d4873" /><Relationship Type="http://schemas.openxmlformats.org/officeDocument/2006/relationships/notesSlide" Target="/ppt/notesSlides/notesSlide5.xml" Id="R856b3eeb78394f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868d80d4d647a5" /><Relationship Type="http://schemas.openxmlformats.org/officeDocument/2006/relationships/image" Target="/ppt/media/image2.jpeg" Id="R0fbc4882e811488b" /><Relationship Type="http://schemas.openxmlformats.org/officeDocument/2006/relationships/notesSlide" Target="/ppt/notesSlides/notesSlide6.xml" Id="R0bf23cabd72d49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96b7af79d2f4f0d" /><Relationship Type="http://schemas.openxmlformats.org/officeDocument/2006/relationships/image" Target="/ppt/media/image3.jpeg" Id="R0a6b9b07647b4d88" /><Relationship Type="http://schemas.openxmlformats.org/officeDocument/2006/relationships/notesSlide" Target="/ppt/notesSlides/notesSlide7.xml" Id="R63c464ef310a410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23e81310c944474" /><Relationship Type="http://schemas.openxmlformats.org/officeDocument/2006/relationships/image" Target="/ppt/media/image4.jpeg" Id="R3f59bf0559a94783" /><Relationship Type="http://schemas.openxmlformats.org/officeDocument/2006/relationships/image" Target="/ppt/media/image5.jpeg" Id="Rb42b376ab4af4ac3" /><Relationship Type="http://schemas.openxmlformats.org/officeDocument/2006/relationships/notesSlide" Target="/ppt/notesSlides/notesSlide8.xml" Id="Rd1a8f3a7eeba474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dc7f6de73754a3f" /><Relationship Type="http://schemas.openxmlformats.org/officeDocument/2006/relationships/notesSlide" Target="/ppt/notesSlides/notesSlide9.xml" Id="R84c5d09f94944cfe" /></Relationships>
</file>

<file path=ppt/slides/slide1.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6" name="Full battery.">
            <a:extLst xmlns:a="http://schemas.openxmlformats.org/drawingml/2006/main">
              <a:ext uri="{FF2B5EF4-FFF2-40B4-BE49-F238E27FC236}">
                <a16:creationId xmlns:a16="http://schemas.microsoft.com/office/drawing/2014/main" id="{F8D830DA-3906-463B-A7CC-FB2A9620E926}"/>
              </a:ext>
            </a:extLst>
          </p:cNvPr>
          <p:cNvSpPr>
            <a:spLocks xmlns:a="http://schemas.openxmlformats.org/drawingml/2006/main" noGrp="1"/>
          </p:cNvSpPr>
          <p:nvPr/>
        </p:nvSpPr>
        <p:spPr>
          <a:xfrm xmlns:a="http://schemas.openxmlformats.org/drawingml/2006/main">
            <a:off x="762000" y="1600200"/>
            <a:ext cx="13716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900" b="1">
                <a:solidFill>
                  <a:srgbClr val="FFFFFF"/>
                </a:solidFill>
                <a:latin typeface="Helvetica Neue"/>
                <a:ea typeface="Helvetica Neue"/>
                <a:cs typeface="Helvetica Neue"/>
              </a:defRPr>
            </a:pPr>
            <a:r>
              <a:rPr sz="9900" b="1">
                <a:solidFill>
                  <a:srgbClr val="FFFFFF"/>
                </a:solidFill>
                <a:latin typeface="Helvetica Neue"/>
                <a:ea typeface="Helvetica Neue"/>
                <a:cs typeface="Helvetica Neue"/>
              </a:rPr>
              <a:t>Full battery.</a:t>
            </a:r>
          </a:p>
        </p:txBody>
      </p:sp>
      <p:sp>
        <p:nvSpPr>
          <p:cNvPr id="2" name="No service.">
            <a:extLst xmlns:a="http://schemas.openxmlformats.org/drawingml/2006/main">
              <a:ext uri="{FF2B5EF4-FFF2-40B4-BE49-F238E27FC236}">
                <a16:creationId xmlns:a16="http://schemas.microsoft.com/office/drawing/2014/main" id="{4731B2D6-C9A2-4795-A0C3-0C7770B86DF8}"/>
              </a:ext>
            </a:extLst>
          </p:cNvPr>
          <p:cNvSpPr>
            <a:spLocks xmlns:a="http://schemas.openxmlformats.org/drawingml/2006/main" noGrp="1"/>
          </p:cNvSpPr>
          <p:nvPr/>
        </p:nvSpPr>
        <p:spPr>
          <a:xfrm xmlns:a="http://schemas.openxmlformats.org/drawingml/2006/main">
            <a:off x="762000" y="3095625"/>
            <a:ext cx="1371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550" b="1">
                <a:solidFill>
                  <a:srgbClr val="FFFFFF"/>
                </a:solidFill>
                <a:latin typeface="Helvetica Neue"/>
                <a:ea typeface="Helvetica Neue"/>
                <a:cs typeface="Helvetica Neue"/>
              </a:defRPr>
            </a:pPr>
            <a:r>
              <a:rPr sz="11550" b="1">
                <a:solidFill>
                  <a:srgbClr val="FFFFFF"/>
                </a:solidFill>
                <a:latin typeface="Helvetica Neue"/>
                <a:ea typeface="Helvetica Neue"/>
                <a:cs typeface="Helvetica Neue"/>
              </a:rPr>
              <a:t>No service.</a:t>
            </a:r>
          </a:p>
        </p:txBody>
      </p:sp>
      <p:sp>
        <p:nvSpPr>
          <p:cNvPr id="3" name="The tower is standing. On dry ground.">
            <a:extLst xmlns:a="http://schemas.openxmlformats.org/drawingml/2006/main">
              <a:ext uri="{FF2B5EF4-FFF2-40B4-BE49-F238E27FC236}">
                <a16:creationId xmlns:a16="http://schemas.microsoft.com/office/drawing/2014/main" id="{DF6BC4B7-31C2-4305-9075-9DD2BF4796E8}"/>
              </a:ext>
            </a:extLst>
          </p:cNvPr>
          <p:cNvSpPr>
            <a:spLocks xmlns:a="http://schemas.openxmlformats.org/drawingml/2006/main" noGrp="1"/>
          </p:cNvSpPr>
          <p:nvPr/>
        </p:nvSpPr>
        <p:spPr>
          <a:xfrm xmlns:a="http://schemas.openxmlformats.org/drawingml/2006/main">
            <a:off x="819150" y="5391150"/>
            <a:ext cx="1362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0">
                <a:solidFill>
                  <a:srgbClr val="B6C3D2"/>
                </a:solidFill>
                <a:latin typeface="Helvetica Neue"/>
                <a:ea typeface="Helvetica Neue"/>
                <a:cs typeface="Helvetica Neue"/>
              </a:defRPr>
            </a:pPr>
            <a:r>
              <a:rPr sz="3600" b="0">
                <a:solidFill>
                  <a:srgbClr val="B6C3D2"/>
                </a:solidFill>
                <a:latin typeface="Helvetica Neue"/>
                <a:ea typeface="Helvetica Neue"/>
                <a:cs typeface="Helvetica Neue"/>
              </a:rPr>
              <a:t>The tower is standing. On dry ground.</a:t>
            </a:r>
          </a:p>
        </p:txBody>
      </p:sp>
      <p:sp>
        <p:nvSpPr>
          <p:cNvPr id="4" name="ResiliNet">
            <a:extLst xmlns:a="http://schemas.openxmlformats.org/drawingml/2006/main">
              <a:ext uri="{FF2B5EF4-FFF2-40B4-BE49-F238E27FC236}">
                <a16:creationId xmlns:a16="http://schemas.microsoft.com/office/drawing/2014/main" id="{AA687431-BC59-4D09-B748-51F6C3058F0B}"/>
              </a:ext>
            </a:extLst>
          </p:cNvPr>
          <p:cNvSpPr>
            <a:spLocks xmlns:a="http://schemas.openxmlformats.org/drawingml/2006/main" noGrp="1"/>
          </p:cNvSpPr>
          <p:nvPr/>
        </p:nvSpPr>
        <p:spPr>
          <a:xfrm xmlns:a="http://schemas.openxmlformats.org/drawingml/2006/main">
            <a:off x="819150" y="7239000"/>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ResiliNet</a:t>
            </a:r>
          </a:p>
        </p:txBody>
      </p:sp>
      <p:sp>
        <p:nvSpPr>
          <p:cNvPr id="5" name="Helps response teams place portable towers be">
            <a:extLst xmlns:a="http://schemas.openxmlformats.org/drawingml/2006/main">
              <a:ext uri="{FF2B5EF4-FFF2-40B4-BE49-F238E27FC236}">
                <a16:creationId xmlns:a16="http://schemas.microsoft.com/office/drawing/2014/main" id="{B1380D3D-0010-4C94-B917-9E9E2B620ACB}"/>
              </a:ext>
            </a:extLst>
          </p:cNvPr>
          <p:cNvSpPr>
            <a:spLocks xmlns:a="http://schemas.openxmlformats.org/drawingml/2006/main" noGrp="1"/>
          </p:cNvSpPr>
          <p:nvPr/>
        </p:nvSpPr>
        <p:spPr>
          <a:xfrm xmlns:a="http://schemas.openxmlformats.org/drawingml/2006/main">
            <a:off x="3467100" y="7296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94A3B8"/>
                </a:solidFill>
                <a:latin typeface="Helvetica Neue"/>
                <a:ea typeface="Helvetica Neue"/>
                <a:cs typeface="Helvetica Neue"/>
              </a:defRPr>
            </a:pPr>
            <a:r>
              <a:rPr sz="2100" b="0">
                <a:solidFill>
                  <a:srgbClr val="94A3B8"/>
                </a:solidFill>
                <a:latin typeface="Helvetica Neue"/>
                <a:ea typeface="Helvetica Neue"/>
                <a:cs typeface="Helvetica Neue"/>
              </a:rPr>
              <a:t>Helps response teams place portable towers before roads close</a:t>
            </a:r>
          </a:p>
        </p:txBody>
      </p:sp>
    </p:spTree>
    <p:extLst>
      <p:ext uri="{BB962C8B-B14F-4D97-AF65-F5344CB8AC3E}">
        <p14:creationId xmlns:p14="http://schemas.microsoft.com/office/powerpoint/2010/main" val="827763235"/>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Malaysia’s floods, December 2014">
            <a:extLst xmlns:a="http://schemas.openxmlformats.org/drawingml/2006/main">
              <a:ext uri="{FF2B5EF4-FFF2-40B4-BE49-F238E27FC236}">
                <a16:creationId xmlns:a16="http://schemas.microsoft.com/office/drawing/2014/main" id="{DB669005-DAFC-45F8-9618-323EDD9FE39A}"/>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Malaysia’s floods, December 2014</a:t>
            </a:r>
          </a:p>
        </p:txBody>
      </p:sp>
      <p:sp>
        <p:nvSpPr>
          <p:cNvPr id="2" name="237,000">
            <a:extLst xmlns:a="http://schemas.openxmlformats.org/drawingml/2006/main">
              <a:ext uri="{FF2B5EF4-FFF2-40B4-BE49-F238E27FC236}">
                <a16:creationId xmlns:a16="http://schemas.microsoft.com/office/drawing/2014/main" id="{84D55578-AD4C-476C-85C2-D4F3DAE89DFD}"/>
              </a:ext>
            </a:extLst>
          </p:cNvPr>
          <p:cNvSpPr>
            <a:spLocks xmlns:a="http://schemas.openxmlformats.org/drawingml/2006/main" noGrp="1"/>
          </p:cNvSpPr>
          <p:nvPr/>
        </p:nvSpPr>
        <p:spPr>
          <a:xfrm xmlns:a="http://schemas.openxmlformats.org/drawingml/2006/main">
            <a:off x="666750" y="2266950"/>
            <a:ext cx="13906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0" b="1">
                <a:solidFill>
                  <a:srgbClr val="1D4ED8"/>
                </a:solidFill>
                <a:latin typeface="Helvetica Neue"/>
                <a:ea typeface="Helvetica Neue"/>
                <a:cs typeface="Helvetica Neue"/>
              </a:defRPr>
            </a:pPr>
            <a:r>
              <a:rPr sz="23250" b="1">
                <a:solidFill>
                  <a:srgbClr val="1D4ED8"/>
                </a:solidFill>
                <a:latin typeface="Helvetica Neue"/>
                <a:ea typeface="Helvetica Neue"/>
                <a:cs typeface="Helvetica Neue"/>
              </a:rPr>
              <a:t>237,000</a:t>
            </a:r>
          </a:p>
        </p:txBody>
      </p:sp>
      <p:sp>
        <p:nvSpPr>
          <p:cNvPr id="3" name="people displaced nationwide">
            <a:extLst xmlns:a="http://schemas.openxmlformats.org/drawingml/2006/main">
              <a:ext uri="{FF2B5EF4-FFF2-40B4-BE49-F238E27FC236}">
                <a16:creationId xmlns:a16="http://schemas.microsoft.com/office/drawing/2014/main" id="{BB1638C2-ADF0-494C-AB64-63EC02426650}"/>
              </a:ext>
            </a:extLst>
          </p:cNvPr>
          <p:cNvSpPr>
            <a:spLocks xmlns:a="http://schemas.openxmlformats.org/drawingml/2006/main" noGrp="1"/>
          </p:cNvSpPr>
          <p:nvPr/>
        </p:nvSpPr>
        <p:spPr>
          <a:xfrm xmlns:a="http://schemas.openxmlformats.org/drawingml/2006/main">
            <a:off x="838200" y="5895975"/>
            <a:ext cx="1333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11827"/>
                </a:solidFill>
                <a:latin typeface="Helvetica Neue"/>
                <a:ea typeface="Helvetica Neue"/>
                <a:cs typeface="Helvetica Neue"/>
              </a:defRPr>
            </a:pPr>
            <a:r>
              <a:rPr sz="3225" b="0">
                <a:solidFill>
                  <a:srgbClr val="111827"/>
                </a:solidFill>
                <a:latin typeface="Helvetica Neue"/>
                <a:ea typeface="Helvetica Neue"/>
                <a:cs typeface="Helvetica Neue"/>
              </a:rPr>
              <a:t>people displaced nationwide</a:t>
            </a:r>
          </a:p>
        </p:txBody>
      </p:sp>
      <p:sp>
        <p:nvSpPr>
          <p:cNvPr id="4" name="In Kelantan, families pleaded for help when t">
            <a:extLst xmlns:a="http://schemas.openxmlformats.org/drawingml/2006/main">
              <a:ext uri="{FF2B5EF4-FFF2-40B4-BE49-F238E27FC236}">
                <a16:creationId xmlns:a16="http://schemas.microsoft.com/office/drawing/2014/main" id="{8A8C4019-C2A9-4B68-9713-A240849ADF53}"/>
              </a:ext>
            </a:extLst>
          </p:cNvPr>
          <p:cNvSpPr>
            <a:spLocks xmlns:a="http://schemas.openxmlformats.org/drawingml/2006/main" noGrp="1"/>
          </p:cNvSpPr>
          <p:nvPr/>
        </p:nvSpPr>
        <p:spPr>
          <a:xfrm xmlns:a="http://schemas.openxmlformats.org/drawingml/2006/main">
            <a:off x="838200" y="7058025"/>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In Kelantan, families pleaded for help when they found signal.</a:t>
            </a:r>
          </a:p>
        </p:txBody>
      </p:sp>
      <p:sp>
        <p:nvSpPr>
          <p:cNvPr id="5" name="Malaysiakini, 30 Dec 2014. Kelantan reporting">
            <a:extLst xmlns:a="http://schemas.openxmlformats.org/drawingml/2006/main">
              <a:ext uri="{FF2B5EF4-FFF2-40B4-BE49-F238E27FC236}">
                <a16:creationId xmlns:a16="http://schemas.microsoft.com/office/drawing/2014/main" id="{C90D05F0-9F22-4423-BD99-8CC666D45371}"/>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Malaysiakini, 30 Dec 2014. Kelantan reporting: The Malaysian Insider, 26 Dec 2014.</a:t>
            </a:r>
          </a:p>
        </p:txBody>
      </p:sp>
      <p:sp>
        <p:nvSpPr>
          <p:cNvPr id="6" name="02">
            <a:extLst xmlns:a="http://schemas.openxmlformats.org/drawingml/2006/main">
              <a:ext uri="{FF2B5EF4-FFF2-40B4-BE49-F238E27FC236}">
                <a16:creationId xmlns:a16="http://schemas.microsoft.com/office/drawing/2014/main" id="{DDF11F2D-7FE7-4653-B646-1CF9397E6911}"/>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02</a:t>
            </a:r>
          </a:p>
        </p:txBody>
      </p:sp>
    </p:spTree>
    <p:extLst>
      <p:ext uri="{BB962C8B-B14F-4D97-AF65-F5344CB8AC3E}">
        <p14:creationId xmlns:p14="http://schemas.microsoft.com/office/powerpoint/2010/main" val="1877479951"/>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Dry ground can still lose signal">
            <a:extLst xmlns:a="http://schemas.openxmlformats.org/drawingml/2006/main">
              <a:ext uri="{FF2B5EF4-FFF2-40B4-BE49-F238E27FC236}">
                <a16:creationId xmlns:a16="http://schemas.microsoft.com/office/drawing/2014/main" id="{D1C5B4FF-07C0-4789-8E33-69F97F37028B}"/>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Dry ground can still lose signal</a:t>
            </a:r>
          </a:p>
        </p:txBody>
      </p:sp>
      <p:sp>
        <p:nvSpPr>
          <p:cNvPr id="2" name="SIMULATED STORM · 14 HOURS AHEAD">
            <a:extLst xmlns:a="http://schemas.openxmlformats.org/drawingml/2006/main">
              <a:ext uri="{FF2B5EF4-FFF2-40B4-BE49-F238E27FC236}">
                <a16:creationId xmlns:a16="http://schemas.microsoft.com/office/drawing/2014/main" id="{31487F5F-4F37-470C-AC31-173C994625D8}"/>
              </a:ext>
            </a:extLst>
          </p:cNvPr>
          <p:cNvSpPr>
            <a:spLocks xmlns:a="http://schemas.openxmlformats.org/drawingml/2006/main" noGrp="1"/>
          </p:cNvSpPr>
          <p:nvPr/>
        </p:nvSpPr>
        <p:spPr>
          <a:xfrm xmlns:a="http://schemas.openxmlformats.org/drawingml/2006/main">
            <a:off x="838200" y="2076450"/>
            <a:ext cx="1333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D4ED8"/>
                </a:solidFill>
                <a:latin typeface="Helvetica Neue"/>
                <a:ea typeface="Helvetica Neue"/>
                <a:cs typeface="Helvetica Neue"/>
              </a:defRPr>
            </a:pPr>
            <a:r>
              <a:rPr sz="1875" b="1">
                <a:solidFill>
                  <a:srgbClr val="1D4ED8"/>
                </a:solidFill>
                <a:latin typeface="Helvetica Neue"/>
                <a:ea typeface="Helvetica Neue"/>
                <a:cs typeface="Helvetica Neue"/>
              </a:rPr>
              <a:t>SIMULATED STORM · 14 HOURS AHEAD</a:t>
            </a:r>
          </a:p>
        </p:txBody>
      </p:sp>
      <p:sp>
        <p:nvSpPr>
          <p:cNvPr id="3" name="19,595">
            <a:extLst xmlns:a="http://schemas.openxmlformats.org/drawingml/2006/main">
              <a:ext uri="{FF2B5EF4-FFF2-40B4-BE49-F238E27FC236}">
                <a16:creationId xmlns:a16="http://schemas.microsoft.com/office/drawing/2014/main" id="{BF4D49A3-D840-4014-8C89-92B9CFD432AD}"/>
              </a:ext>
            </a:extLst>
          </p:cNvPr>
          <p:cNvSpPr>
            <a:spLocks xmlns:a="http://schemas.openxmlformats.org/drawingml/2006/main" noGrp="1"/>
          </p:cNvSpPr>
          <p:nvPr/>
        </p:nvSpPr>
        <p:spPr>
          <a:xfrm xmlns:a="http://schemas.openxmlformats.org/drawingml/2006/main">
            <a:off x="666750" y="2476500"/>
            <a:ext cx="139065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0" b="1">
                <a:solidFill>
                  <a:srgbClr val="1D4ED8"/>
                </a:solidFill>
                <a:latin typeface="Helvetica Neue"/>
                <a:ea typeface="Helvetica Neue"/>
                <a:cs typeface="Helvetica Neue"/>
              </a:defRPr>
            </a:pPr>
            <a:r>
              <a:rPr sz="23250" b="1">
                <a:solidFill>
                  <a:srgbClr val="1D4ED8"/>
                </a:solidFill>
                <a:latin typeface="Helvetica Neue"/>
                <a:ea typeface="Helvetica Neue"/>
                <a:cs typeface="Helvetica Neue"/>
              </a:rPr>
              <a:t>19,595</a:t>
            </a:r>
          </a:p>
        </p:txBody>
      </p:sp>
      <p:sp>
        <p:nvSpPr>
          <p:cNvPr id="4" name="people on dry ground, without signal">
            <a:extLst xmlns:a="http://schemas.openxmlformats.org/drawingml/2006/main">
              <a:ext uri="{FF2B5EF4-FFF2-40B4-BE49-F238E27FC236}">
                <a16:creationId xmlns:a16="http://schemas.microsoft.com/office/drawing/2014/main" id="{4E8E620D-6D54-4CE9-990F-6B70F6367D20}"/>
              </a:ext>
            </a:extLst>
          </p:cNvPr>
          <p:cNvSpPr>
            <a:spLocks xmlns:a="http://schemas.openxmlformats.org/drawingml/2006/main" noGrp="1"/>
          </p:cNvSpPr>
          <p:nvPr/>
        </p:nvSpPr>
        <p:spPr>
          <a:xfrm xmlns:a="http://schemas.openxmlformats.org/drawingml/2006/main">
            <a:off x="838200" y="5895975"/>
            <a:ext cx="1371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11827"/>
                </a:solidFill>
                <a:latin typeface="Helvetica Neue"/>
                <a:ea typeface="Helvetica Neue"/>
                <a:cs typeface="Helvetica Neue"/>
              </a:defRPr>
            </a:pPr>
            <a:r>
              <a:rPr sz="3225" b="0">
                <a:solidFill>
                  <a:srgbClr val="111827"/>
                </a:solidFill>
                <a:latin typeface="Helvetica Neue"/>
                <a:ea typeface="Helvetica Neue"/>
                <a:cs typeface="Helvetica Neue"/>
              </a:rPr>
              <a:t>people on dry ground, without signal</a:t>
            </a:r>
          </a:p>
        </p:txBody>
      </p:sp>
      <p:sp>
        <p:nvSpPr>
          <p:cNvPr id="5" name="Flooded roads isolate towers. Backup power ru">
            <a:extLst xmlns:a="http://schemas.openxmlformats.org/drawingml/2006/main">
              <a:ext uri="{FF2B5EF4-FFF2-40B4-BE49-F238E27FC236}">
                <a16:creationId xmlns:a16="http://schemas.microsoft.com/office/drawing/2014/main" id="{5077B89D-C2A7-4AAF-9BE6-1793C1575E24}"/>
              </a:ext>
            </a:extLst>
          </p:cNvPr>
          <p:cNvSpPr>
            <a:spLocks xmlns:a="http://schemas.openxmlformats.org/drawingml/2006/main" noGrp="1"/>
          </p:cNvSpPr>
          <p:nvPr/>
        </p:nvSpPr>
        <p:spPr>
          <a:xfrm xmlns:a="http://schemas.openxmlformats.org/drawingml/2006/main">
            <a:off x="838200" y="7058025"/>
            <a:ext cx="1362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Flooded roads isolate towers. Backup power runs out. Signal disappears.</a:t>
            </a:r>
          </a:p>
        </p:txBody>
      </p:sp>
      <p:sp>
        <p:nvSpPr>
          <p:cNvPr id="6" name="Illustrative scenario at +14 h. ResiliNet cov">
            <a:extLst xmlns:a="http://schemas.openxmlformats.org/drawingml/2006/main">
              <a:ext uri="{FF2B5EF4-FFF2-40B4-BE49-F238E27FC236}">
                <a16:creationId xmlns:a16="http://schemas.microsoft.com/office/drawing/2014/main" id="{68019223-8974-40B5-ACF4-9DFDE442D161}"/>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Illustrative scenario at +14 h. ResiliNet coverage model and WorldPop 2020.</a:t>
            </a:r>
          </a:p>
        </p:txBody>
      </p:sp>
      <p:sp>
        <p:nvSpPr>
          <p:cNvPr id="7" name="03">
            <a:extLst xmlns:a="http://schemas.openxmlformats.org/drawingml/2006/main">
              <a:ext uri="{FF2B5EF4-FFF2-40B4-BE49-F238E27FC236}">
                <a16:creationId xmlns:a16="http://schemas.microsoft.com/office/drawing/2014/main" id="{8BB138EA-D037-4B44-96F9-154D2B7D2ADD}"/>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03</a:t>
            </a:r>
          </a:p>
        </p:txBody>
      </p:sp>
    </p:spTree>
    <p:extLst>
      <p:ext uri="{BB962C8B-B14F-4D97-AF65-F5344CB8AC3E}">
        <p14:creationId xmlns:p14="http://schemas.microsoft.com/office/powerpoint/2010/main" val="1376927000"/>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Where should the portable tower go?">
            <a:extLst xmlns:a="http://schemas.openxmlformats.org/drawingml/2006/main">
              <a:ext uri="{FF2B5EF4-FFF2-40B4-BE49-F238E27FC236}">
                <a16:creationId xmlns:a16="http://schemas.microsoft.com/office/drawing/2014/main" id="{AE681BEF-3BBF-4E00-A8EB-BDEA8416A2EC}"/>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Where should the portable tower go?</a:t>
            </a:r>
          </a:p>
        </p:txBody>
      </p:sp>
      <p:sp>
        <p:nvSpPr>
          <p:cNvPr id="2" name="36,614">
            <a:extLst xmlns:a="http://schemas.openxmlformats.org/drawingml/2006/main">
              <a:ext uri="{FF2B5EF4-FFF2-40B4-BE49-F238E27FC236}">
                <a16:creationId xmlns:a16="http://schemas.microsoft.com/office/drawing/2014/main" id="{DB502ECC-7828-414E-B464-F721A73CCF7D}"/>
              </a:ext>
            </a:extLst>
          </p:cNvPr>
          <p:cNvSpPr>
            <a:spLocks xmlns:a="http://schemas.openxmlformats.org/drawingml/2006/main" noGrp="1"/>
          </p:cNvSpPr>
          <p:nvPr/>
        </p:nvSpPr>
        <p:spPr>
          <a:xfrm xmlns:a="http://schemas.openxmlformats.org/drawingml/2006/main">
            <a:off x="704850" y="2257425"/>
            <a:ext cx="137160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0" b="1">
                <a:solidFill>
                  <a:srgbClr val="DC2626"/>
                </a:solidFill>
                <a:latin typeface="Helvetica Neue"/>
                <a:ea typeface="Helvetica Neue"/>
                <a:cs typeface="Helvetica Neue"/>
              </a:defRPr>
            </a:pPr>
            <a:r>
              <a:rPr sz="22500" b="1">
                <a:solidFill>
                  <a:srgbClr val="DC2626"/>
                </a:solidFill>
                <a:latin typeface="Helvetica Neue"/>
                <a:ea typeface="Helvetica Neue"/>
                <a:cs typeface="Helvetica Neue"/>
              </a:rPr>
              <a:t>36,614</a:t>
            </a:r>
          </a:p>
        </p:txBody>
      </p:sp>
      <p:sp>
        <p:nvSpPr>
          <p:cNvPr id="3" name="people projected to lack signal at hour 14">
            <a:extLst xmlns:a="http://schemas.openxmlformats.org/drawingml/2006/main">
              <a:ext uri="{FF2B5EF4-FFF2-40B4-BE49-F238E27FC236}">
                <a16:creationId xmlns:a16="http://schemas.microsoft.com/office/drawing/2014/main" id="{7FE12720-BAEF-4BC7-96BE-5FEABA5EBCA6}"/>
              </a:ext>
            </a:extLst>
          </p:cNvPr>
          <p:cNvSpPr>
            <a:spLocks xmlns:a="http://schemas.openxmlformats.org/drawingml/2006/main" noGrp="1"/>
          </p:cNvSpPr>
          <p:nvPr/>
        </p:nvSpPr>
        <p:spPr>
          <a:xfrm xmlns:a="http://schemas.openxmlformats.org/drawingml/2006/main">
            <a:off x="838200" y="5857875"/>
            <a:ext cx="13335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11827"/>
                </a:solidFill>
                <a:latin typeface="Helvetica Neue"/>
                <a:ea typeface="Helvetica Neue"/>
                <a:cs typeface="Helvetica Neue"/>
              </a:defRPr>
            </a:pPr>
            <a:r>
              <a:rPr sz="3150" b="0">
                <a:solidFill>
                  <a:srgbClr val="111827"/>
                </a:solidFill>
                <a:latin typeface="Helvetica Neue"/>
                <a:ea typeface="Helvetica Neue"/>
                <a:cs typeface="Helvetica Neue"/>
              </a:rPr>
              <a:t>people projected to lack signal at hour 14</a:t>
            </a:r>
          </a:p>
        </p:txBody>
      </p:sp>
      <p:sp>
        <p:nvSpPr>
          <p:cNvPr id="4" name="Includes the 19,595 on dry ground. Where shou">
            <a:extLst xmlns:a="http://schemas.openxmlformats.org/drawingml/2006/main">
              <a:ext uri="{FF2B5EF4-FFF2-40B4-BE49-F238E27FC236}">
                <a16:creationId xmlns:a16="http://schemas.microsoft.com/office/drawing/2014/main" id="{8C64BBC3-102A-4800-91FB-F197CA36AA52}"/>
              </a:ext>
            </a:extLst>
          </p:cNvPr>
          <p:cNvSpPr>
            <a:spLocks xmlns:a="http://schemas.openxmlformats.org/drawingml/2006/main" noGrp="1"/>
          </p:cNvSpPr>
          <p:nvPr/>
        </p:nvSpPr>
        <p:spPr>
          <a:xfrm xmlns:a="http://schemas.openxmlformats.org/drawingml/2006/main">
            <a:off x="838200" y="7058025"/>
            <a:ext cx="1362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1827"/>
                </a:solidFill>
                <a:latin typeface="Helvetica Neue"/>
                <a:ea typeface="Helvetica Neue"/>
                <a:cs typeface="Helvetica Neue"/>
              </a:defRPr>
            </a:pPr>
            <a:r>
              <a:rPr sz="2400" b="0">
                <a:solidFill>
                  <a:srgbClr val="111827"/>
                </a:solidFill>
                <a:latin typeface="Helvetica Neue"/>
                <a:ea typeface="Helvetica Neue"/>
                <a:cs typeface="Helvetica Neue"/>
              </a:rPr>
              <a:t>Includes the 19,595 on dry ground. Where should one portable tower go?</a:t>
            </a:r>
          </a:p>
        </p:txBody>
      </p:sp>
      <p:sp>
        <p:nvSpPr>
          <p:cNvPr id="5" name="Illustrative scenario. Kelantan gauge 27.0 m.">
            <a:extLst xmlns:a="http://schemas.openxmlformats.org/drawingml/2006/main">
              <a:ext uri="{FF2B5EF4-FFF2-40B4-BE49-F238E27FC236}">
                <a16:creationId xmlns:a16="http://schemas.microsoft.com/office/drawing/2014/main" id="{4FC4AFB0-7B93-4D97-B3E9-182E4C15BEF3}"/>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Illustrative scenario. Kelantan gauge 27.0 m. Before any response.</a:t>
            </a:r>
          </a:p>
        </p:txBody>
      </p:sp>
      <p:sp>
        <p:nvSpPr>
          <p:cNvPr id="6" name="04">
            <a:extLst xmlns:a="http://schemas.openxmlformats.org/drawingml/2006/main">
              <a:ext uri="{FF2B5EF4-FFF2-40B4-BE49-F238E27FC236}">
                <a16:creationId xmlns:a16="http://schemas.microsoft.com/office/drawing/2014/main" id="{C190D044-E919-4630-8BA8-F4B0DD42AA8D}"/>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04</a:t>
            </a:r>
          </a:p>
        </p:txBody>
      </p:sp>
    </p:spTree>
    <p:extLst>
      <p:ext uri="{BB962C8B-B14F-4D97-AF65-F5344CB8AC3E}">
        <p14:creationId xmlns:p14="http://schemas.microsoft.com/office/powerpoint/2010/main" val="1022374913"/>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he right hill, before the road closes">
            <a:extLst xmlns:a="http://schemas.openxmlformats.org/drawingml/2006/main">
              <a:ext uri="{FF2B5EF4-FFF2-40B4-BE49-F238E27FC236}">
                <a16:creationId xmlns:a16="http://schemas.microsoft.com/office/drawing/2014/main" id="{54A76F3A-F93E-4E78-BBC0-256C5576FE1F}"/>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The right hill, before the road closes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a6020b29c7d4873"/>
          <a:srcRect xmlns:a="http://schemas.openxmlformats.org/drawingml/2006/main" l="0" t="11641" r="0" b="11641"/>
          <a:stretch xmlns:a="http://schemas.openxmlformats.org/drawingml/2006/main">
            <a:fillRect l="0" t="0" r="0" b="0"/>
          </a:stretch>
        </p:blipFill>
        <p:spPr>
          <a:xfrm xmlns:a="http://schemas.openxmlformats.org/drawingml/2006/main">
            <a:off x="762000" y="2095500"/>
            <a:ext cx="8858250" cy="5334000"/>
          </a:xfrm>
          <a:prstGeom xmlns:a="http://schemas.openxmlformats.org/drawingml/2006/main" prst="roundRect">
            <a:avLst>
              <a:gd name="adj" fmla="val 2857"/>
            </a:avLst>
          </a:prstGeom>
        </p:spPr>
      </p:pic>
      <p:sp>
        <p:nvSpPr>
          <p:cNvPr id="3" name="Every location must pass">
            <a:extLst xmlns:a="http://schemas.openxmlformats.org/drawingml/2006/main">
              <a:ext uri="{FF2B5EF4-FFF2-40B4-BE49-F238E27FC236}">
                <a16:creationId xmlns:a16="http://schemas.microsoft.com/office/drawing/2014/main" id="{1FC603A8-C4A1-48F3-8AB5-1F7D38F813BB}"/>
              </a:ext>
            </a:extLst>
          </p:cNvPr>
          <p:cNvSpPr>
            <a:spLocks xmlns:a="http://schemas.openxmlformats.org/drawingml/2006/main" noGrp="1"/>
          </p:cNvSpPr>
          <p:nvPr/>
        </p:nvSpPr>
        <p:spPr>
          <a:xfrm xmlns:a="http://schemas.openxmlformats.org/drawingml/2006/main">
            <a:off x="10096500" y="2247900"/>
            <a:ext cx="4286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6B7280"/>
                </a:solidFill>
                <a:latin typeface="Helvetica Neue"/>
                <a:ea typeface="Helvetica Neue"/>
                <a:cs typeface="Helvetica Neue"/>
              </a:defRPr>
            </a:pPr>
            <a:r>
              <a:rPr sz="2100" b="0">
                <a:solidFill>
                  <a:srgbClr val="6B7280"/>
                </a:solidFill>
                <a:latin typeface="Helvetica Neue"/>
                <a:ea typeface="Helvetica Neue"/>
                <a:cs typeface="Helvetica Neue"/>
              </a:rPr>
              <a:t>Every location must pass</a:t>
            </a:r>
          </a:p>
        </p:txBody>
      </p:sp>
      <p:sp>
        <p:nvSpPr>
          <p:cNvPr id="4" name="Reachable in time">
            <a:extLst xmlns:a="http://schemas.openxmlformats.org/drawingml/2006/main">
              <a:ext uri="{FF2B5EF4-FFF2-40B4-BE49-F238E27FC236}">
                <a16:creationId xmlns:a16="http://schemas.microsoft.com/office/drawing/2014/main" id="{F79ECB76-65F1-43D4-AB85-32216EBCD110}"/>
              </a:ext>
            </a:extLst>
          </p:cNvPr>
          <p:cNvSpPr>
            <a:spLocks xmlns:a="http://schemas.openxmlformats.org/drawingml/2006/main" noGrp="1"/>
          </p:cNvSpPr>
          <p:nvPr/>
        </p:nvSpPr>
        <p:spPr>
          <a:xfrm xmlns:a="http://schemas.openxmlformats.org/drawingml/2006/main">
            <a:off x="10096500" y="3152775"/>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Reachable in time</a:t>
            </a:r>
          </a:p>
        </p:txBody>
      </p:sp>
      <p:sp>
        <p:nvSpPr>
          <p:cNvPr id="5" name="Reaches people">
            <a:extLst xmlns:a="http://schemas.openxmlformats.org/drawingml/2006/main">
              <a:ext uri="{FF2B5EF4-FFF2-40B4-BE49-F238E27FC236}">
                <a16:creationId xmlns:a16="http://schemas.microsoft.com/office/drawing/2014/main" id="{24A5D7A7-5A05-4DB8-9CB8-637307476EF2}"/>
              </a:ext>
            </a:extLst>
          </p:cNvPr>
          <p:cNvSpPr>
            <a:spLocks xmlns:a="http://schemas.openxmlformats.org/drawingml/2006/main" noGrp="1"/>
          </p:cNvSpPr>
          <p:nvPr/>
        </p:nvSpPr>
        <p:spPr>
          <a:xfrm xmlns:a="http://schemas.openxmlformats.org/drawingml/2006/main">
            <a:off x="10096500" y="443865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Reaches people</a:t>
            </a:r>
          </a:p>
        </p:txBody>
      </p:sp>
      <p:sp>
        <p:nvSpPr>
          <p:cNvPr id="6" name="Links to a&#10;working tower">
            <a:extLst xmlns:a="http://schemas.openxmlformats.org/drawingml/2006/main">
              <a:ext uri="{FF2B5EF4-FFF2-40B4-BE49-F238E27FC236}">
                <a16:creationId xmlns:a16="http://schemas.microsoft.com/office/drawing/2014/main" id="{A71BD78A-FEC8-4171-8279-9C2C132F9324}"/>
              </a:ext>
            </a:extLst>
          </p:cNvPr>
          <p:cNvSpPr>
            <a:spLocks xmlns:a="http://schemas.openxmlformats.org/drawingml/2006/main" noGrp="1"/>
          </p:cNvSpPr>
          <p:nvPr/>
        </p:nvSpPr>
        <p:spPr>
          <a:xfrm xmlns:a="http://schemas.openxmlformats.org/drawingml/2006/main">
            <a:off x="10096500" y="57054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Links to a</a:t>
            </a:r>
          </a:p>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working tower</a:t>
            </a:r>
          </a:p>
        </p:txBody>
      </p:sp>
      <p:sp>
        <p:nvSpPr>
          <p:cNvPr id="7" name="ResiliNet prototype. NASA SRTM, OpenStreetMap">
            <a:extLst xmlns:a="http://schemas.openxmlformats.org/drawingml/2006/main">
              <a:ext uri="{FF2B5EF4-FFF2-40B4-BE49-F238E27FC236}">
                <a16:creationId xmlns:a16="http://schemas.microsoft.com/office/drawing/2014/main" id="{C86102DC-DC50-4847-9976-1A2C0CBA6EE6}"/>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ResiliNet prototype. NASA SRTM, OpenStreetMap, WorldPop and OpenCellID.</a:t>
            </a:r>
          </a:p>
        </p:txBody>
      </p:sp>
      <p:sp>
        <p:nvSpPr>
          <p:cNvPr id="8" name="05">
            <a:extLst xmlns:a="http://schemas.openxmlformats.org/drawingml/2006/main">
              <a:ext uri="{FF2B5EF4-FFF2-40B4-BE49-F238E27FC236}">
                <a16:creationId xmlns:a16="http://schemas.microsoft.com/office/drawing/2014/main" id="{505DF603-7FFE-49F7-A5E0-5ABEAE850A0B}"/>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05</a:t>
            </a:r>
          </a:p>
        </p:txBody>
      </p:sp>
    </p:spTree>
    <p:extLst>
      <p:ext uri="{BB962C8B-B14F-4D97-AF65-F5344CB8AC3E}">
        <p14:creationId xmlns:p14="http://schemas.microsoft.com/office/powerpoint/2010/main" val="2012917297"/>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One plan: a portable tower + generator suppor">
            <a:extLst xmlns:a="http://schemas.openxmlformats.org/drawingml/2006/main">
              <a:ext uri="{FF2B5EF4-FFF2-40B4-BE49-F238E27FC236}">
                <a16:creationId xmlns:a16="http://schemas.microsoft.com/office/drawing/2014/main" id="{4B19E4A4-20CF-4311-94BC-E93FD238F220}"/>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One plan: a portable tower + generator support</a:t>
            </a:r>
          </a:p>
        </p:txBody>
      </p:sp>
      <p:sp>
        <p:nvSpPr>
          <p:cNvPr id="2" name="8,604">
            <a:extLst xmlns:a="http://schemas.openxmlformats.org/drawingml/2006/main">
              <a:ext uri="{FF2B5EF4-FFF2-40B4-BE49-F238E27FC236}">
                <a16:creationId xmlns:a16="http://schemas.microsoft.com/office/drawing/2014/main" id="{A58A90C7-C324-4998-9EC2-60A0E51A5B21}"/>
              </a:ext>
            </a:extLst>
          </p:cNvPr>
          <p:cNvSpPr>
            <a:spLocks xmlns:a="http://schemas.openxmlformats.org/drawingml/2006/main" noGrp="1"/>
          </p:cNvSpPr>
          <p:nvPr/>
        </p:nvSpPr>
        <p:spPr>
          <a:xfrm xmlns:a="http://schemas.openxmlformats.org/drawingml/2006/main">
            <a:off x="666750" y="2352675"/>
            <a:ext cx="7667625"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0" b="1">
                <a:solidFill>
                  <a:srgbClr val="1D4ED8"/>
                </a:solidFill>
                <a:latin typeface="Helvetica Neue"/>
                <a:ea typeface="Helvetica Neue"/>
                <a:cs typeface="Helvetica Neue"/>
              </a:defRPr>
            </a:pPr>
            <a:r>
              <a:rPr sz="18750" b="1">
                <a:solidFill>
                  <a:srgbClr val="1D4ED8"/>
                </a:solidFill>
                <a:latin typeface="Helvetica Neue"/>
                <a:ea typeface="Helvetica Neue"/>
                <a:cs typeface="Helvetica Neue"/>
              </a:rPr>
              <a:t>8,604</a:t>
            </a:r>
          </a:p>
        </p:txBody>
      </p:sp>
      <p:sp>
        <p:nvSpPr>
          <p:cNvPr id="3" name="additional people keep&#10;a connection">
            <a:extLst xmlns:a="http://schemas.openxmlformats.org/drawingml/2006/main">
              <a:ext uri="{FF2B5EF4-FFF2-40B4-BE49-F238E27FC236}">
                <a16:creationId xmlns:a16="http://schemas.microsoft.com/office/drawing/2014/main" id="{20B419EA-B3D2-4775-B277-FC327D92B50F}"/>
              </a:ext>
            </a:extLst>
          </p:cNvPr>
          <p:cNvSpPr>
            <a:spLocks xmlns:a="http://schemas.openxmlformats.org/drawingml/2006/main" noGrp="1"/>
          </p:cNvSpPr>
          <p:nvPr/>
        </p:nvSpPr>
        <p:spPr>
          <a:xfrm xmlns:a="http://schemas.openxmlformats.org/drawingml/2006/main">
            <a:off x="828675" y="5133975"/>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11827"/>
                </a:solidFill>
                <a:latin typeface="Helvetica Neue"/>
                <a:ea typeface="Helvetica Neue"/>
                <a:cs typeface="Helvetica Neue"/>
              </a:defRPr>
            </a:pPr>
            <a:r>
              <a:rPr sz="2925" b="0">
                <a:solidFill>
                  <a:srgbClr val="111827"/>
                </a:solidFill>
                <a:latin typeface="Helvetica Neue"/>
                <a:ea typeface="Helvetica Neue"/>
                <a:cs typeface="Helvetica Neue"/>
              </a:rPr>
              <a:t>additional people keep</a:t>
            </a:r>
          </a:p>
          <a:p xmlns:a="http://schemas.openxmlformats.org/drawingml/2006/main">
            <a:pPr algn="l">
              <a:defRPr sz="2925" b="0">
                <a:solidFill>
                  <a:srgbClr val="111827"/>
                </a:solidFill>
                <a:latin typeface="Helvetica Neue"/>
                <a:ea typeface="Helvetica Neue"/>
                <a:cs typeface="Helvetica Neue"/>
              </a:defRPr>
            </a:pPr>
            <a:r>
              <a:rPr sz="2925" b="0">
                <a:solidFill>
                  <a:srgbClr val="111827"/>
                </a:solidFill>
                <a:latin typeface="Helvetica Neue"/>
                <a:ea typeface="Helvetica Neue"/>
                <a:cs typeface="Helvetica Neue"/>
              </a:rPr>
              <a:t>a connection</a:t>
            </a:r>
          </a:p>
        </p:txBody>
      </p:sp>
      <p:sp>
        <p:nvSpPr>
          <p:cNvPr id="4" name="of 13,811 still at risk&#10;after routine support">
            <a:extLst xmlns:a="http://schemas.openxmlformats.org/drawingml/2006/main">
              <a:ext uri="{FF2B5EF4-FFF2-40B4-BE49-F238E27FC236}">
                <a16:creationId xmlns:a16="http://schemas.microsoft.com/office/drawing/2014/main" id="{7D7AF820-456F-47DE-B85F-3E7F297B7A57}"/>
              </a:ext>
            </a:extLst>
          </p:cNvPr>
          <p:cNvSpPr>
            <a:spLocks xmlns:a="http://schemas.openxmlformats.org/drawingml/2006/main" noGrp="1"/>
          </p:cNvSpPr>
          <p:nvPr/>
        </p:nvSpPr>
        <p:spPr>
          <a:xfrm xmlns:a="http://schemas.openxmlformats.org/drawingml/2006/main">
            <a:off x="828675" y="6515100"/>
            <a:ext cx="6524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6B7280"/>
                </a:solidFill>
                <a:latin typeface="Helvetica Neue"/>
                <a:ea typeface="Helvetica Neue"/>
                <a:cs typeface="Helvetica Neue"/>
              </a:defRPr>
            </a:pPr>
            <a:r>
              <a:rPr sz="2400" b="0">
                <a:solidFill>
                  <a:srgbClr val="6B7280"/>
                </a:solidFill>
                <a:latin typeface="Helvetica Neue"/>
                <a:ea typeface="Helvetica Neue"/>
                <a:cs typeface="Helvetica Neue"/>
              </a:rPr>
              <a:t>of 13,811 still at risk</a:t>
            </a:r>
          </a:p>
          <a:p xmlns:a="http://schemas.openxmlformats.org/drawingml/2006/main">
            <a:pPr algn="l">
              <a:defRPr sz="2400" b="0">
                <a:solidFill>
                  <a:srgbClr val="6B7280"/>
                </a:solidFill>
                <a:latin typeface="Helvetica Neue"/>
                <a:ea typeface="Helvetica Neue"/>
                <a:cs typeface="Helvetica Neue"/>
              </a:defRPr>
            </a:pPr>
            <a:r>
              <a:rPr sz="2400" b="0">
                <a:solidFill>
                  <a:srgbClr val="6B7280"/>
                </a:solidFill>
                <a:latin typeface="Helvetica Neue"/>
                <a:ea typeface="Helvetica Neue"/>
                <a:cs typeface="Helvetica Neue"/>
              </a:rPr>
              <a:t>after routine support</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fbc4882e811488b"/>
          <a:srcRect xmlns:a="http://schemas.openxmlformats.org/drawingml/2006/main" l="0" t="3416" r="0" b="3416"/>
          <a:stretch xmlns:a="http://schemas.openxmlformats.org/drawingml/2006/main">
            <a:fillRect l="0" t="0" r="0" b="0"/>
          </a:stretch>
        </p:blipFill>
        <p:spPr>
          <a:xfrm xmlns:a="http://schemas.openxmlformats.org/drawingml/2006/main">
            <a:off x="7905750" y="2124075"/>
            <a:ext cx="6572250" cy="4572000"/>
          </a:xfrm>
          <a:prstGeom xmlns:a="http://schemas.openxmlformats.org/drawingml/2006/main" prst="roundRect">
            <a:avLst>
              <a:gd name="adj" fmla="val 3333"/>
            </a:avLst>
          </a:prstGeom>
        </p:spPr>
      </p:pic>
      <p:sp>
        <p:nvSpPr>
          <p:cNvPr id="6" name="1,128 via the portable tower&#10;7,476 via genera">
            <a:extLst xmlns:a="http://schemas.openxmlformats.org/drawingml/2006/main">
              <a:ext uri="{FF2B5EF4-FFF2-40B4-BE49-F238E27FC236}">
                <a16:creationId xmlns:a16="http://schemas.microsoft.com/office/drawing/2014/main" id="{2CF6BE0B-82AB-4920-BE5A-6DEE5B220748}"/>
              </a:ext>
            </a:extLst>
          </p:cNvPr>
          <p:cNvSpPr>
            <a:spLocks xmlns:a="http://schemas.openxmlformats.org/drawingml/2006/main" noGrp="1"/>
          </p:cNvSpPr>
          <p:nvPr/>
        </p:nvSpPr>
        <p:spPr>
          <a:xfrm xmlns:a="http://schemas.openxmlformats.org/drawingml/2006/main">
            <a:off x="7905750" y="6896100"/>
            <a:ext cx="657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1827"/>
                </a:solidFill>
                <a:latin typeface="Helvetica Neue"/>
                <a:ea typeface="Helvetica Neue"/>
                <a:cs typeface="Helvetica Neue"/>
              </a:defRPr>
            </a:pPr>
            <a:r>
              <a:rPr sz="2250" b="1">
                <a:solidFill>
                  <a:srgbClr val="111827"/>
                </a:solidFill>
                <a:latin typeface="Helvetica Neue"/>
                <a:ea typeface="Helvetica Neue"/>
                <a:cs typeface="Helvetica Neue"/>
              </a:rPr>
              <a:t>1,128 via the portable tower</a:t>
            </a:r>
          </a:p>
          <a:p xmlns:a="http://schemas.openxmlformats.org/drawingml/2006/main">
            <a:pPr algn="l">
              <a:defRPr sz="2250" b="1">
                <a:solidFill>
                  <a:srgbClr val="111827"/>
                </a:solidFill>
                <a:latin typeface="Helvetica Neue"/>
                <a:ea typeface="Helvetica Neue"/>
                <a:cs typeface="Helvetica Neue"/>
              </a:defRPr>
            </a:pPr>
            <a:r>
              <a:rPr sz="2250" b="1">
                <a:solidFill>
                  <a:srgbClr val="111827"/>
                </a:solidFill>
                <a:latin typeface="Helvetica Neue"/>
                <a:ea typeface="Helvetica Neue"/>
                <a:cs typeface="Helvetica Neue"/>
              </a:rPr>
              <a:t>7,476 via generator support</a:t>
            </a:r>
          </a:p>
        </p:txBody>
      </p:sp>
      <p:sp>
        <p:nvSpPr>
          <p:cNvPr id="7" name="Model estimate. Including routine support: 31">
            <a:extLst xmlns:a="http://schemas.openxmlformats.org/drawingml/2006/main">
              <a:ext uri="{FF2B5EF4-FFF2-40B4-BE49-F238E27FC236}">
                <a16:creationId xmlns:a16="http://schemas.microsoft.com/office/drawing/2014/main" id="{8902F048-5D71-4722-859D-4AF91CD506B1}"/>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Model estimate. Including routine support: 31,407 benefit; 5,207 remain without coverage.</a:t>
            </a:r>
          </a:p>
        </p:txBody>
      </p:sp>
      <p:sp>
        <p:nvSpPr>
          <p:cNvPr id="8" name="06">
            <a:extLst xmlns:a="http://schemas.openxmlformats.org/drawingml/2006/main">
              <a:ext uri="{FF2B5EF4-FFF2-40B4-BE49-F238E27FC236}">
                <a16:creationId xmlns:a16="http://schemas.microsoft.com/office/drawing/2014/main" id="{4634877D-1F8C-474C-8C24-B22321D37C66}"/>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06</a:t>
            </a:r>
          </a:p>
        </p:txBody>
      </p:sp>
    </p:spTree>
    <p:extLst>
      <p:ext uri="{BB962C8B-B14F-4D97-AF65-F5344CB8AC3E}">
        <p14:creationId xmlns:p14="http://schemas.microsoft.com/office/powerpoint/2010/main" val="906081785"/>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Public data. Transparent assumptions.">
            <a:extLst xmlns:a="http://schemas.openxmlformats.org/drawingml/2006/main">
              <a:ext uri="{FF2B5EF4-FFF2-40B4-BE49-F238E27FC236}">
                <a16:creationId xmlns:a16="http://schemas.microsoft.com/office/drawing/2014/main" id="{AB2FCC09-DC47-4792-85E0-EBBBCEE76387}"/>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Public data. Transparent assumptions.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0a6b9b07647b4d88"/>
          <a:srcRect xmlns:a="http://schemas.openxmlformats.org/drawingml/2006/main" l="0" t="12911" r="0" b="12911"/>
          <a:stretch xmlns:a="http://schemas.openxmlformats.org/drawingml/2006/main">
            <a:fillRect l="0" t="0" r="0" b="0"/>
          </a:stretch>
        </p:blipFill>
        <p:spPr>
          <a:xfrm xmlns:a="http://schemas.openxmlformats.org/drawingml/2006/main">
            <a:off x="762000" y="2095500"/>
            <a:ext cx="8096250" cy="5334000"/>
          </a:xfrm>
          <a:prstGeom xmlns:a="http://schemas.openxmlformats.org/drawingml/2006/main" prst="roundRect">
            <a:avLst>
              <a:gd name="adj" fmla="val 2857"/>
            </a:avLst>
          </a:prstGeom>
        </p:spPr>
      </p:pic>
      <p:sp>
        <p:nvSpPr>
          <p:cNvPr id="3" name="">
            <a:extLst xmlns:a="http://schemas.openxmlformats.org/drawingml/2006/main">
              <a:ext uri="{FF2B5EF4-FFF2-40B4-BE49-F238E27FC236}">
                <a16:creationId xmlns:a16="http://schemas.microsoft.com/office/drawing/2014/main" id="{513BD603-D83D-403E-843B-DE034EB11E36}"/>
              </a:ext>
            </a:extLst>
          </p:cNvPr>
          <p:cNvSpPr>
            <a:spLocks xmlns:a="http://schemas.openxmlformats.org/drawingml/2006/main" noGrp="1"/>
          </p:cNvSpPr>
          <p:nvPr/>
        </p:nvSpPr>
        <p:spPr>
          <a:xfrm xmlns:a="http://schemas.openxmlformats.org/drawingml/2006/main">
            <a:off x="762000" y="6000750"/>
            <a:ext cx="8096250" cy="1428750"/>
          </a:xfrm>
          <a:prstGeom xmlns:a="http://schemas.openxmlformats.org/drawingml/2006/main" prst="rect">
            <a:avLst/>
          </a:prstGeom>
          <a:solidFill xmlns:a="http://schemas.openxmlformats.org/drawingml/2006/main">
            <a:srgbClr val="FAFAF7"/>
          </a:solidFill>
          <a:ln xmlns:a="http://schemas.openxmlformats.org/drawingml/2006/main" w="0">
            <a:noFill/>
          </a:ln>
        </p:spPr>
      </p:sp>
      <p:sp>
        <p:nvSpPr>
          <p:cNvPr id="4" name="Prepared rainfall scenario">
            <a:extLst xmlns:a="http://schemas.openxmlformats.org/drawingml/2006/main">
              <a:ext uri="{FF2B5EF4-FFF2-40B4-BE49-F238E27FC236}">
                <a16:creationId xmlns:a16="http://schemas.microsoft.com/office/drawing/2014/main" id="{8A157F4F-75E1-4512-A4DE-196A58E1C0B8}"/>
              </a:ext>
            </a:extLst>
          </p:cNvPr>
          <p:cNvSpPr>
            <a:spLocks xmlns:a="http://schemas.openxmlformats.org/drawingml/2006/main" noGrp="1"/>
          </p:cNvSpPr>
          <p:nvPr/>
        </p:nvSpPr>
        <p:spPr>
          <a:xfrm xmlns:a="http://schemas.openxmlformats.org/drawingml/2006/main">
            <a:off x="762000" y="6591300"/>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6B7280"/>
                </a:solidFill>
                <a:latin typeface="Helvetica Neue"/>
                <a:ea typeface="Helvetica Neue"/>
                <a:cs typeface="Helvetica Neue"/>
              </a:defRPr>
            </a:pPr>
            <a:r>
              <a:rPr sz="2400" b="0">
                <a:solidFill>
                  <a:srgbClr val="6B7280"/>
                </a:solidFill>
                <a:latin typeface="Helvetica Neue"/>
                <a:ea typeface="Helvetica Neue"/>
                <a:cs typeface="Helvetica Neue"/>
              </a:rPr>
              <a:t>Prepared rainfall scenario</a:t>
            </a:r>
          </a:p>
        </p:txBody>
      </p:sp>
      <p:sp>
        <p:nvSpPr>
          <p:cNvPr id="5" name="Terrain and roads&#10;Population and towers&#10;AI we">
            <a:extLst xmlns:a="http://schemas.openxmlformats.org/drawingml/2006/main">
              <a:ext uri="{FF2B5EF4-FFF2-40B4-BE49-F238E27FC236}">
                <a16:creationId xmlns:a16="http://schemas.microsoft.com/office/drawing/2014/main" id="{FE11E43E-ABBB-4A74-9182-6AAD789EF621}"/>
              </a:ext>
            </a:extLst>
          </p:cNvPr>
          <p:cNvSpPr>
            <a:spLocks xmlns:a="http://schemas.openxmlformats.org/drawingml/2006/main" noGrp="1"/>
          </p:cNvSpPr>
          <p:nvPr/>
        </p:nvSpPr>
        <p:spPr>
          <a:xfrm xmlns:a="http://schemas.openxmlformats.org/drawingml/2006/main">
            <a:off x="9382125" y="2209800"/>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Terrain and roads</a:t>
            </a:r>
          </a:p>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Population and towers</a:t>
            </a:r>
          </a:p>
          <a:p xmlns:a="http://schemas.openxmlformats.org/drawingml/2006/main">
            <a:pPr algn="l">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AI weather forecasts</a:t>
            </a:r>
          </a:p>
        </p:txBody>
      </p:sp>
      <p:sp>
        <p:nvSpPr>
          <p:cNvPr id="6" name="The demo uses&#10;a synthetic storm">
            <a:extLst xmlns:a="http://schemas.openxmlformats.org/drawingml/2006/main">
              <a:ext uri="{FF2B5EF4-FFF2-40B4-BE49-F238E27FC236}">
                <a16:creationId xmlns:a16="http://schemas.microsoft.com/office/drawing/2014/main" id="{7B2DA1B4-AE16-4427-9F5F-ACA31A0AF19B}"/>
              </a:ext>
            </a:extLst>
          </p:cNvPr>
          <p:cNvSpPr>
            <a:spLocks xmlns:a="http://schemas.openxmlformats.org/drawingml/2006/main" noGrp="1"/>
          </p:cNvSpPr>
          <p:nvPr/>
        </p:nvSpPr>
        <p:spPr>
          <a:xfrm xmlns:a="http://schemas.openxmlformats.org/drawingml/2006/main">
            <a:off x="9382125" y="4619625"/>
            <a:ext cx="5095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The demo uses</a:t>
            </a:r>
          </a:p>
          <a:p xmlns:a="http://schemas.openxmlformats.org/drawingml/2006/main">
            <a:pPr algn="l">
              <a:defRPr sz="2700" b="1">
                <a:solidFill>
                  <a:srgbClr val="1D4ED8"/>
                </a:solidFill>
                <a:latin typeface="Helvetica Neue"/>
                <a:ea typeface="Helvetica Neue"/>
                <a:cs typeface="Helvetica Neue"/>
              </a:defRPr>
            </a:pPr>
            <a:r>
              <a:rPr sz="2700" b="1">
                <a:solidFill>
                  <a:srgbClr val="1D4ED8"/>
                </a:solidFill>
                <a:latin typeface="Helvetica Neue"/>
                <a:ea typeface="Helvetica Neue"/>
                <a:cs typeface="Helvetica Neue"/>
              </a:rPr>
              <a:t>a synthetic storm</a:t>
            </a:r>
          </a:p>
        </p:txBody>
      </p:sp>
      <p:sp>
        <p:nvSpPr>
          <p:cNvPr id="7" name="2014: road cuts matched;&#10;one village outage m">
            <a:extLst xmlns:a="http://schemas.openxmlformats.org/drawingml/2006/main">
              <a:ext uri="{FF2B5EF4-FFF2-40B4-BE49-F238E27FC236}">
                <a16:creationId xmlns:a16="http://schemas.microsoft.com/office/drawing/2014/main" id="{CB761590-1175-4548-9BD3-EB9792B157BE}"/>
              </a:ext>
            </a:extLst>
          </p:cNvPr>
          <p:cNvSpPr>
            <a:spLocks xmlns:a="http://schemas.openxmlformats.org/drawingml/2006/main" noGrp="1"/>
          </p:cNvSpPr>
          <p:nvPr/>
        </p:nvSpPr>
        <p:spPr>
          <a:xfrm xmlns:a="http://schemas.openxmlformats.org/drawingml/2006/main">
            <a:off x="9382125" y="6296025"/>
            <a:ext cx="509587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6B7280"/>
                </a:solidFill>
                <a:latin typeface="Helvetica Neue"/>
                <a:ea typeface="Helvetica Neue"/>
                <a:cs typeface="Helvetica Neue"/>
              </a:defRPr>
            </a:pPr>
            <a:r>
              <a:rPr sz="2400" b="0">
                <a:solidFill>
                  <a:srgbClr val="6B7280"/>
                </a:solidFill>
                <a:latin typeface="Helvetica Neue"/>
                <a:ea typeface="Helvetica Neue"/>
                <a:cs typeface="Helvetica Neue"/>
              </a:rPr>
              <a:t>2014: road cuts matched;</a:t>
            </a:r>
          </a:p>
          <a:p xmlns:a="http://schemas.openxmlformats.org/drawingml/2006/main">
            <a:pPr algn="l">
              <a:defRPr sz="2400" b="0">
                <a:solidFill>
                  <a:srgbClr val="6B7280"/>
                </a:solidFill>
                <a:latin typeface="Helvetica Neue"/>
                <a:ea typeface="Helvetica Neue"/>
                <a:cs typeface="Helvetica Neue"/>
              </a:defRPr>
            </a:pPr>
            <a:r>
              <a:rPr sz="2400" b="0">
                <a:solidFill>
                  <a:srgbClr val="6B7280"/>
                </a:solidFill>
                <a:latin typeface="Helvetica Neue"/>
                <a:ea typeface="Helvetica Neue"/>
                <a:cs typeface="Helvetica Neue"/>
              </a:rPr>
              <a:t>one village outage missed</a:t>
            </a:r>
          </a:p>
        </p:txBody>
      </p:sp>
      <p:sp>
        <p:nvSpPr>
          <p:cNvPr id="8" name="NASA, OSM, WorldPop, OpenCellID, Google DeepM">
            <a:extLst xmlns:a="http://schemas.openxmlformats.org/drawingml/2006/main">
              <a:ext uri="{FF2B5EF4-FFF2-40B4-BE49-F238E27FC236}">
                <a16:creationId xmlns:a16="http://schemas.microsoft.com/office/drawing/2014/main" id="{91ACF1E8-598F-4F2A-831F-C87EDD9EA13C}"/>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NASA, OSM, WorldPop, OpenCellID, Google DeepMind WeatherNext 3, ECMWF ERA5-Land.</a:t>
            </a:r>
          </a:p>
        </p:txBody>
      </p:sp>
      <p:sp>
        <p:nvSpPr>
          <p:cNvPr id="9" name="07">
            <a:extLst xmlns:a="http://schemas.openxmlformats.org/drawingml/2006/main">
              <a:ext uri="{FF2B5EF4-FFF2-40B4-BE49-F238E27FC236}">
                <a16:creationId xmlns:a16="http://schemas.microsoft.com/office/drawing/2014/main" id="{D09353AF-4535-4042-9486-0388181743C5}"/>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07</a:t>
            </a:r>
          </a:p>
        </p:txBody>
      </p:sp>
    </p:spTree>
    <p:extLst>
      <p:ext uri="{BB962C8B-B14F-4D97-AF65-F5344CB8AC3E}">
        <p14:creationId xmlns:p14="http://schemas.microsoft.com/office/powerpoint/2010/main" val="133765515"/>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wo valleys. The same planning engine.">
            <a:extLst xmlns:a="http://schemas.openxmlformats.org/drawingml/2006/main">
              <a:ext uri="{FF2B5EF4-FFF2-40B4-BE49-F238E27FC236}">
                <a16:creationId xmlns:a16="http://schemas.microsoft.com/office/drawing/2014/main" id="{E44A2F67-2FB9-4C86-BEAA-CA187B44FBE7}"/>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Two valleys. The same planning engine.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f59bf0559a94783"/>
          <a:srcRect xmlns:a="http://schemas.openxmlformats.org/drawingml/2006/main" l="0" t="5714" r="0" b="5714"/>
          <a:stretch xmlns:a="http://schemas.openxmlformats.org/drawingml/2006/main">
            <a:fillRect l="0" t="0" r="0" b="0"/>
          </a:stretch>
        </p:blipFill>
        <p:spPr>
          <a:xfrm xmlns:a="http://schemas.openxmlformats.org/drawingml/2006/main">
            <a:off x="762000" y="2152650"/>
            <a:ext cx="6667500" cy="4429125"/>
          </a:xfrm>
          <a:prstGeom xmlns:a="http://schemas.openxmlformats.org/drawingml/2006/main" prst="roundRect">
            <a:avLst>
              <a:gd name="adj" fmla="val 3441"/>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42b376ab4af4ac3"/>
          <a:srcRect xmlns:a="http://schemas.openxmlformats.org/drawingml/2006/main" l="0" t="5714" r="0" b="5714"/>
          <a:stretch xmlns:a="http://schemas.openxmlformats.org/drawingml/2006/main">
            <a:fillRect l="0" t="0" r="0" b="0"/>
          </a:stretch>
        </p:blipFill>
        <p:spPr>
          <a:xfrm xmlns:a="http://schemas.openxmlformats.org/drawingml/2006/main">
            <a:off x="7810500" y="2152650"/>
            <a:ext cx="6667500" cy="4429125"/>
          </a:xfrm>
          <a:prstGeom xmlns:a="http://schemas.openxmlformats.org/drawingml/2006/main" prst="roundRect">
            <a:avLst>
              <a:gd name="adj" fmla="val 3441"/>
            </a:avLst>
          </a:prstGeom>
        </p:spPr>
      </p:pic>
      <p:sp>
        <p:nvSpPr>
          <p:cNvPr id="4" name="Galas, Kelantan">
            <a:extLst xmlns:a="http://schemas.openxmlformats.org/drawingml/2006/main">
              <a:ext uri="{FF2B5EF4-FFF2-40B4-BE49-F238E27FC236}">
                <a16:creationId xmlns:a16="http://schemas.microsoft.com/office/drawing/2014/main" id="{8C44E675-D0D6-421F-9985-D3BB0ECF0EE1}"/>
              </a:ext>
            </a:extLst>
          </p:cNvPr>
          <p:cNvSpPr>
            <a:spLocks xmlns:a="http://schemas.openxmlformats.org/drawingml/2006/main" noGrp="1"/>
          </p:cNvSpPr>
          <p:nvPr/>
        </p:nvSpPr>
        <p:spPr>
          <a:xfrm xmlns:a="http://schemas.openxmlformats.org/drawingml/2006/main">
            <a:off x="762000" y="6762750"/>
            <a:ext cx="666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11827"/>
                </a:solidFill>
                <a:latin typeface="Helvetica Neue"/>
                <a:ea typeface="Helvetica Neue"/>
                <a:cs typeface="Helvetica Neue"/>
              </a:defRPr>
            </a:pPr>
            <a:r>
              <a:rPr sz="2625" b="1">
                <a:solidFill>
                  <a:srgbClr val="111827"/>
                </a:solidFill>
                <a:latin typeface="Helvetica Neue"/>
                <a:ea typeface="Helvetica Neue"/>
                <a:cs typeface="Helvetica Neue"/>
              </a:rPr>
              <a:t>Galas, Kelantan</a:t>
            </a:r>
          </a:p>
        </p:txBody>
      </p:sp>
      <p:sp>
        <p:nvSpPr>
          <p:cNvPr id="5" name="Padas, Sabah">
            <a:extLst xmlns:a="http://schemas.openxmlformats.org/drawingml/2006/main">
              <a:ext uri="{FF2B5EF4-FFF2-40B4-BE49-F238E27FC236}">
                <a16:creationId xmlns:a16="http://schemas.microsoft.com/office/drawing/2014/main" id="{A324475F-9004-43E9-9D2C-35A48E06AEF1}"/>
              </a:ext>
            </a:extLst>
          </p:cNvPr>
          <p:cNvSpPr>
            <a:spLocks xmlns:a="http://schemas.openxmlformats.org/drawingml/2006/main" noGrp="1"/>
          </p:cNvSpPr>
          <p:nvPr/>
        </p:nvSpPr>
        <p:spPr>
          <a:xfrm xmlns:a="http://schemas.openxmlformats.org/drawingml/2006/main">
            <a:off x="7810500" y="6762750"/>
            <a:ext cx="666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11827"/>
                </a:solidFill>
                <a:latin typeface="Helvetica Neue"/>
                <a:ea typeface="Helvetica Neue"/>
                <a:cs typeface="Helvetica Neue"/>
              </a:defRPr>
            </a:pPr>
            <a:r>
              <a:rPr sz="2625" b="1">
                <a:solidFill>
                  <a:srgbClr val="111827"/>
                </a:solidFill>
                <a:latin typeface="Helvetica Neue"/>
                <a:ea typeface="Helvetica Neue"/>
                <a:cs typeface="Helvetica Neue"/>
              </a:rPr>
              <a:t>Padas, Sabah</a:t>
            </a:r>
          </a:p>
        </p:txBody>
      </p:sp>
      <p:sp>
        <p:nvSpPr>
          <p:cNvPr id="6" name="Prepare the data once. Plan offline when conn">
            <a:extLst xmlns:a="http://schemas.openxmlformats.org/drawingml/2006/main">
              <a:ext uri="{FF2B5EF4-FFF2-40B4-BE49-F238E27FC236}">
                <a16:creationId xmlns:a16="http://schemas.microsoft.com/office/drawing/2014/main" id="{25B25E89-55BF-4F83-A377-FCB8D1CB53E3}"/>
              </a:ext>
            </a:extLst>
          </p:cNvPr>
          <p:cNvSpPr>
            <a:spLocks xmlns:a="http://schemas.openxmlformats.org/drawingml/2006/main" noGrp="1"/>
          </p:cNvSpPr>
          <p:nvPr/>
        </p:nvSpPr>
        <p:spPr>
          <a:xfrm xmlns:a="http://schemas.openxmlformats.org/drawingml/2006/main">
            <a:off x="762000" y="7448550"/>
            <a:ext cx="1333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D4ED8"/>
                </a:solidFill>
                <a:latin typeface="Helvetica Neue"/>
                <a:ea typeface="Helvetica Neue"/>
                <a:cs typeface="Helvetica Neue"/>
              </a:defRPr>
            </a:pPr>
            <a:r>
              <a:rPr sz="2400" b="0">
                <a:solidFill>
                  <a:srgbClr val="1D4ED8"/>
                </a:solidFill>
                <a:latin typeface="Helvetica Neue"/>
                <a:ea typeface="Helvetica Neue"/>
                <a:cs typeface="Helvetica Neue"/>
              </a:rPr>
              <a:t>Prepare the data once. Plan offline when connectivity fails.</a:t>
            </a:r>
          </a:p>
        </p:txBody>
      </p:sp>
      <p:sp>
        <p:nvSpPr>
          <p:cNvPr id="7" name="ResiliNet prototype. Two prepared datasets. O">
            <a:extLst xmlns:a="http://schemas.openxmlformats.org/drawingml/2006/main">
              <a:ext uri="{FF2B5EF4-FFF2-40B4-BE49-F238E27FC236}">
                <a16:creationId xmlns:a16="http://schemas.microsoft.com/office/drawing/2014/main" id="{8119C202-CF1D-4C83-8721-A69EEF865989}"/>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ResiliNet prototype. Two prepared datasets. Operational use requires local validation.</a:t>
            </a:r>
          </a:p>
        </p:txBody>
      </p:sp>
      <p:sp>
        <p:nvSpPr>
          <p:cNvPr id="8" name="08">
            <a:extLst xmlns:a="http://schemas.openxmlformats.org/drawingml/2006/main">
              <a:ext uri="{FF2B5EF4-FFF2-40B4-BE49-F238E27FC236}">
                <a16:creationId xmlns:a16="http://schemas.microsoft.com/office/drawing/2014/main" id="{96A83BC2-13E2-421D-A1F7-FC960D45DC9C}"/>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08</a:t>
            </a:r>
          </a:p>
        </p:txBody>
      </p:sp>
    </p:spTree>
    <p:extLst>
      <p:ext uri="{BB962C8B-B14F-4D97-AF65-F5344CB8AC3E}">
        <p14:creationId xmlns:p14="http://schemas.microsoft.com/office/powerpoint/2010/main" val="1769995696"/>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When a tower fails, the plan changes">
            <a:extLst xmlns:a="http://schemas.openxmlformats.org/drawingml/2006/main">
              <a:ext uri="{FF2B5EF4-FFF2-40B4-BE49-F238E27FC236}">
                <a16:creationId xmlns:a16="http://schemas.microsoft.com/office/drawing/2014/main" id="{C50C8458-5212-4A30-BEE9-1639D4F140F7}"/>
              </a:ext>
            </a:extLst>
          </p:cNvPr>
          <p:cNvSpPr>
            <a:spLocks xmlns:a="http://schemas.openxmlformats.org/drawingml/2006/main" noGrp="1"/>
          </p:cNvSpPr>
          <p:nvPr/>
        </p:nvSpPr>
        <p:spPr>
          <a:xfrm xmlns:a="http://schemas.openxmlformats.org/drawingml/2006/main">
            <a:off x="762000" y="590550"/>
            <a:ext cx="1371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When a tower fails, the plan changes</a:t>
            </a:r>
          </a:p>
        </p:txBody>
      </p:sp>
      <p:sp>
        <p:nvSpPr>
          <p:cNvPr id="2" name="1">
            <a:extLst xmlns:a="http://schemas.openxmlformats.org/drawingml/2006/main">
              <a:ext uri="{FF2B5EF4-FFF2-40B4-BE49-F238E27FC236}">
                <a16:creationId xmlns:a16="http://schemas.microsoft.com/office/drawing/2014/main" id="{61AFA0E6-188A-4AD0-AA68-DE4FD8CBDE33}"/>
              </a:ext>
            </a:extLst>
          </p:cNvPr>
          <p:cNvSpPr>
            <a:spLocks xmlns:a="http://schemas.openxmlformats.org/drawingml/2006/main" noGrp="1"/>
          </p:cNvSpPr>
          <p:nvPr/>
        </p:nvSpPr>
        <p:spPr>
          <a:xfrm xmlns:a="http://schemas.openxmlformats.org/drawingml/2006/main">
            <a:off x="781050" y="1924050"/>
            <a:ext cx="3905250" cy="3743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0" b="1">
                <a:solidFill>
                  <a:srgbClr val="1D4ED8"/>
                </a:solidFill>
                <a:latin typeface="Helvetica Neue"/>
                <a:ea typeface="Helvetica Neue"/>
                <a:cs typeface="Helvetica Neue"/>
              </a:defRPr>
            </a:pPr>
            <a:r>
              <a:rPr sz="25500" b="1">
                <a:solidFill>
                  <a:srgbClr val="1D4ED8"/>
                </a:solidFill>
                <a:latin typeface="Helvetica Neue"/>
                <a:ea typeface="Helvetica Neue"/>
                <a:cs typeface="Helvetica Neue"/>
              </a:rPr>
              <a:t>1</a:t>
            </a:r>
          </a:p>
        </p:txBody>
      </p:sp>
      <p:sp>
        <p:nvSpPr>
          <p:cNvPr id="3" name="new report">
            <a:extLst xmlns:a="http://schemas.openxmlformats.org/drawingml/2006/main">
              <a:ext uri="{FF2B5EF4-FFF2-40B4-BE49-F238E27FC236}">
                <a16:creationId xmlns:a16="http://schemas.microsoft.com/office/drawing/2014/main" id="{365FC2FC-0A89-4321-AFA8-85A01D192A22}"/>
              </a:ext>
            </a:extLst>
          </p:cNvPr>
          <p:cNvSpPr>
            <a:spLocks xmlns:a="http://schemas.openxmlformats.org/drawingml/2006/main" noGrp="1"/>
          </p:cNvSpPr>
          <p:nvPr/>
        </p:nvSpPr>
        <p:spPr>
          <a:xfrm xmlns:a="http://schemas.openxmlformats.org/drawingml/2006/main">
            <a:off x="1000125" y="5781675"/>
            <a:ext cx="4857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0">
                <a:solidFill>
                  <a:srgbClr val="111827"/>
                </a:solidFill>
                <a:latin typeface="Helvetica Neue"/>
                <a:ea typeface="Helvetica Neue"/>
                <a:cs typeface="Helvetica Neue"/>
              </a:defRPr>
            </a:pPr>
            <a:r>
              <a:rPr sz="3450" b="0">
                <a:solidFill>
                  <a:srgbClr val="111827"/>
                </a:solidFill>
                <a:latin typeface="Helvetica Neue"/>
                <a:ea typeface="Helvetica Neue"/>
                <a:cs typeface="Helvetica Neue"/>
              </a:rPr>
              <a:t>new report</a:t>
            </a:r>
          </a:p>
        </p:txBody>
      </p:sp>
      <p:sp>
        <p:nvSpPr>
          <p:cNvPr id="4" name="A new recommendation">
            <a:extLst xmlns:a="http://schemas.openxmlformats.org/drawingml/2006/main">
              <a:ext uri="{FF2B5EF4-FFF2-40B4-BE49-F238E27FC236}">
                <a16:creationId xmlns:a16="http://schemas.microsoft.com/office/drawing/2014/main" id="{00401CB7-AB09-4005-8E3E-1B1F9AC0C46D}"/>
              </a:ext>
            </a:extLst>
          </p:cNvPr>
          <p:cNvSpPr>
            <a:spLocks xmlns:a="http://schemas.openxmlformats.org/drawingml/2006/main" noGrp="1"/>
          </p:cNvSpPr>
          <p:nvPr/>
        </p:nvSpPr>
        <p:spPr>
          <a:xfrm xmlns:a="http://schemas.openxmlformats.org/drawingml/2006/main">
            <a:off x="6572250" y="2867025"/>
            <a:ext cx="7667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03" b="1">
                <a:solidFill>
                  <a:srgbClr val="111827"/>
                </a:solidFill>
                <a:latin typeface="Helvetica Neue"/>
                <a:ea typeface="Helvetica Neue"/>
                <a:cs typeface="Helvetica Neue"/>
              </a:defRPr>
            </a:pPr>
            <a:r>
              <a:rPr sz="4403" b="1">
                <a:solidFill>
                  <a:srgbClr val="111827"/>
                </a:solidFill>
                <a:latin typeface="Helvetica Neue"/>
                <a:ea typeface="Helvetica Neue"/>
                <a:cs typeface="Helvetica Neue"/>
              </a:rPr>
              <a:t>A new recommendation</a:t>
            </a:r>
          </a:p>
        </p:txBody>
      </p:sp>
      <p:sp>
        <p:nvSpPr>
          <p:cNvPr id="5" name="Watch the two-minute live demo">
            <a:extLst xmlns:a="http://schemas.openxmlformats.org/drawingml/2006/main">
              <a:ext uri="{FF2B5EF4-FFF2-40B4-BE49-F238E27FC236}">
                <a16:creationId xmlns:a16="http://schemas.microsoft.com/office/drawing/2014/main" id="{AB554676-AB8B-477B-BCEE-79B670C75EA5}"/>
              </a:ext>
            </a:extLst>
          </p:cNvPr>
          <p:cNvSpPr>
            <a:spLocks xmlns:a="http://schemas.openxmlformats.org/drawingml/2006/main" noGrp="1"/>
          </p:cNvSpPr>
          <p:nvPr/>
        </p:nvSpPr>
        <p:spPr>
          <a:xfrm xmlns:a="http://schemas.openxmlformats.org/drawingml/2006/main">
            <a:off x="6610350" y="4152900"/>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6B7280"/>
                </a:solidFill>
                <a:latin typeface="Helvetica Neue"/>
                <a:ea typeface="Helvetica Neue"/>
                <a:cs typeface="Helvetica Neue"/>
              </a:defRPr>
            </a:pPr>
            <a:r>
              <a:rPr sz="3150" b="0">
                <a:solidFill>
                  <a:srgbClr val="6B7280"/>
                </a:solidFill>
                <a:latin typeface="Helvetica Neue"/>
                <a:ea typeface="Helvetica Neue"/>
                <a:cs typeface="Helvetica Neue"/>
              </a:rPr>
              <a:t>Watch the two-minute live demo</a:t>
            </a:r>
          </a:p>
        </p:txBody>
      </p:sp>
      <p:sp>
        <p:nvSpPr>
          <p:cNvPr id="6" name="Seeking an operator pilot: verified sites, ou">
            <a:extLst xmlns:a="http://schemas.openxmlformats.org/drawingml/2006/main">
              <a:ext uri="{FF2B5EF4-FFF2-40B4-BE49-F238E27FC236}">
                <a16:creationId xmlns:a16="http://schemas.microsoft.com/office/drawing/2014/main" id="{AE62A22A-6171-48BF-960B-8EABC802E370}"/>
              </a:ext>
            </a:extLst>
          </p:cNvPr>
          <p:cNvSpPr>
            <a:spLocks xmlns:a="http://schemas.openxmlformats.org/drawingml/2006/main" noGrp="1"/>
          </p:cNvSpPr>
          <p:nvPr/>
        </p:nvSpPr>
        <p:spPr>
          <a:xfrm xmlns:a="http://schemas.openxmlformats.org/drawingml/2006/main">
            <a:off x="819150" y="7210425"/>
            <a:ext cx="13620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D4ED8"/>
                </a:solidFill>
                <a:latin typeface="Helvetica Neue"/>
                <a:ea typeface="Helvetica Neue"/>
                <a:cs typeface="Helvetica Neue"/>
              </a:defRPr>
            </a:pPr>
            <a:r>
              <a:rPr sz="2400" b="0">
                <a:solidFill>
                  <a:srgbClr val="1D4ED8"/>
                </a:solidFill>
                <a:latin typeface="Helvetica Neue"/>
                <a:ea typeface="Helvetica Neue"/>
                <a:cs typeface="Helvetica Neue"/>
              </a:rPr>
              <a:t>Seeking an operator pilot: verified sites, outage logs, field checks.</a:t>
            </a:r>
          </a:p>
        </p:txBody>
      </p:sp>
      <p:sp>
        <p:nvSpPr>
          <p:cNvPr id="7" name="Interactive prototype. Replanning time depend">
            <a:extLst xmlns:a="http://schemas.openxmlformats.org/drawingml/2006/main">
              <a:ext uri="{FF2B5EF4-FFF2-40B4-BE49-F238E27FC236}">
                <a16:creationId xmlns:a16="http://schemas.microsoft.com/office/drawing/2014/main" id="{131E24C7-4AEB-4B4B-BD43-9B17C8A039B6}"/>
              </a:ext>
            </a:extLst>
          </p:cNvPr>
          <p:cNvSpPr>
            <a:spLocks xmlns:a="http://schemas.openxmlformats.org/drawingml/2006/main" noGrp="1"/>
          </p:cNvSpPr>
          <p:nvPr/>
        </p:nvSpPr>
        <p:spPr>
          <a:xfrm xmlns:a="http://schemas.openxmlformats.org/drawingml/2006/main">
            <a:off x="762000" y="8048625"/>
            <a:ext cx="12954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Interactive prototype. Replanning time depends on the device and scenario.</a:t>
            </a:r>
          </a:p>
        </p:txBody>
      </p:sp>
      <p:sp>
        <p:nvSpPr>
          <p:cNvPr id="8" name="09">
            <a:extLst xmlns:a="http://schemas.openxmlformats.org/drawingml/2006/main">
              <a:ext uri="{FF2B5EF4-FFF2-40B4-BE49-F238E27FC236}">
                <a16:creationId xmlns:a16="http://schemas.microsoft.com/office/drawing/2014/main" id="{78EE07FF-7EE1-468A-835E-C687627B1B37}"/>
              </a:ext>
            </a:extLst>
          </p:cNvPr>
          <p:cNvSpPr>
            <a:spLocks xmlns:a="http://schemas.openxmlformats.org/drawingml/2006/main" noGrp="1"/>
          </p:cNvSpPr>
          <p:nvPr/>
        </p:nvSpPr>
        <p:spPr>
          <a:xfrm xmlns:a="http://schemas.openxmlformats.org/drawingml/2006/main">
            <a:off x="13906500" y="8048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402" b="0">
                <a:solidFill>
                  <a:srgbClr val="6B7280"/>
                </a:solidFill>
                <a:latin typeface="Helvetica Neue"/>
                <a:ea typeface="Helvetica Neue"/>
                <a:cs typeface="Helvetica Neue"/>
              </a:defRPr>
            </a:pPr>
            <a:r>
              <a:rPr sz="1402" b="0">
                <a:solidFill>
                  <a:srgbClr val="6B7280"/>
                </a:solidFill>
                <a:latin typeface="Helvetica Neue"/>
                <a:ea typeface="Helvetica Neue"/>
                <a:cs typeface="Helvetica Neue"/>
              </a:rPr>
              <a:t>09</a:t>
            </a:r>
          </a:p>
        </p:txBody>
      </p:sp>
    </p:spTree>
    <p:extLst>
      <p:ext uri="{BB962C8B-B14F-4D97-AF65-F5344CB8AC3E}">
        <p14:creationId xmlns:p14="http://schemas.microsoft.com/office/powerpoint/2010/main" val="11969572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2026-09-20T06:56:38.0990000Z</dcterms:created>
  <dcterms:modified xsi:type="dcterms:W3CDTF">2026-09-20T06:56:38.0990000Z</dcterms:modified>
</coreProperties>
</file>