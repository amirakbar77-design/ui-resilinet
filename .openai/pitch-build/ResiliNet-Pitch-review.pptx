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51f197aefb54943" /><Relationship Type="http://schemas.openxmlformats.org/officeDocument/2006/relationships/extended-properties" Target="/docProps/app.xml" Id="R53222785d4cf40df" /><Relationship Type="http://schemas.openxmlformats.org/officeDocument/2006/relationships/officeDocument" Target="/ppt/presentation.xml" Id="R123e08682d934ed5" /></Relationships>
</file>

<file path=ppt/presentation.xml><?xml version="1.0" encoding="utf-8"?>
<p:presentation xmlns:p="http://schemas.openxmlformats.org/presentationml/2006/main">
  <p:sldMasterIdLst>
    <p:sldMasterId xmlns:r="http://schemas.openxmlformats.org/officeDocument/2006/relationships" id="2147483648" r:id="R2452664498e24d7a"/>
  </p:sldMasterIdLst>
  <p:notesMasterIdLst>
    <p:notesMasterId xmlns:r="http://schemas.openxmlformats.org/officeDocument/2006/relationships" r:id="R0a7127ae1a05462c"/>
  </p:notesMasterIdLst>
  <p:sldIdLst>
    <p:sldId xmlns:r="http://schemas.openxmlformats.org/officeDocument/2006/relationships" id="256" r:id="R2eb67b54004a473f"/>
    <p:sldId xmlns:r="http://schemas.openxmlformats.org/officeDocument/2006/relationships" id="257" r:id="R7324ea9470aa40d7"/>
    <p:sldId xmlns:r="http://schemas.openxmlformats.org/officeDocument/2006/relationships" id="258" r:id="R76ecbb4cc591416c"/>
    <p:sldId xmlns:r="http://schemas.openxmlformats.org/officeDocument/2006/relationships" id="259" r:id="Ra4f215aa4f564d1e"/>
    <p:sldId xmlns:r="http://schemas.openxmlformats.org/officeDocument/2006/relationships" id="260" r:id="R6591582d946f43a8"/>
    <p:sldId xmlns:r="http://schemas.openxmlformats.org/officeDocument/2006/relationships" id="261" r:id="R66a39146341f4fb8"/>
    <p:sldId xmlns:r="http://schemas.openxmlformats.org/officeDocument/2006/relationships" id="262" r:id="Rab32acab1f5a489c"/>
    <p:sldId xmlns:r="http://schemas.openxmlformats.org/officeDocument/2006/relationships" id="263" r:id="R07416b68f394435a"/>
    <p:sldId xmlns:r="http://schemas.openxmlformats.org/officeDocument/2006/relationships" id="264" r:id="R9a61d6be3ea742f8"/>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5ea51f423534a35" /><Relationship Type="http://schemas.openxmlformats.org/officeDocument/2006/relationships/slideMaster" Target="/ppt/slideMasters/slideMaster1.xml" Id="R2452664498e24d7a" /><Relationship Type="http://schemas.openxmlformats.org/officeDocument/2006/relationships/notesMaster" Target="/ppt/notesMasters/notesMaster1.xml" Id="R0a7127ae1a05462c" /><Relationship Type="http://schemas.openxmlformats.org/officeDocument/2006/relationships/presProps" Target="/ppt/presProps.xml" Id="Rb28c02fd31de4cce" /><Relationship Type="http://schemas.openxmlformats.org/officeDocument/2006/relationships/tableStyles" Target="/ppt/tableStyles.xml" Id="R9a63fc40ae184cb4" /><Relationship Type="http://schemas.openxmlformats.org/officeDocument/2006/relationships/slide" Target="/ppt/slides/slide1.xml" Id="R2eb67b54004a473f" /><Relationship Type="http://schemas.openxmlformats.org/officeDocument/2006/relationships/slide" Target="/ppt/slides/slide2.xml" Id="R7324ea9470aa40d7" /><Relationship Type="http://schemas.openxmlformats.org/officeDocument/2006/relationships/slide" Target="/ppt/slides/slide3.xml" Id="R76ecbb4cc591416c" /><Relationship Type="http://schemas.openxmlformats.org/officeDocument/2006/relationships/slide" Target="/ppt/slides/slide4.xml" Id="Ra4f215aa4f564d1e" /><Relationship Type="http://schemas.openxmlformats.org/officeDocument/2006/relationships/slide" Target="/ppt/slides/slide5.xml" Id="R6591582d946f43a8" /><Relationship Type="http://schemas.openxmlformats.org/officeDocument/2006/relationships/slide" Target="/ppt/slides/slide6.xml" Id="R66a39146341f4fb8" /><Relationship Type="http://schemas.openxmlformats.org/officeDocument/2006/relationships/slide" Target="/ppt/slides/slide7.xml" Id="Rab32acab1f5a489c" /><Relationship Type="http://schemas.openxmlformats.org/officeDocument/2006/relationships/slide" Target="/ppt/slides/slide8.xml" Id="R07416b68f394435a" /><Relationship Type="http://schemas.openxmlformats.org/officeDocument/2006/relationships/slide" Target="/ppt/slides/slide9.xml" Id="R9a61d6be3ea742f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96771a866642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a341f4be984614" /><Relationship Type="http://schemas.openxmlformats.org/officeDocument/2006/relationships/notesMaster" Target="/ppt/notesMasters/notesMaster1.xml" Id="R7304834d587744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7fa97976af4457" /><Relationship Type="http://schemas.openxmlformats.org/officeDocument/2006/relationships/notesMaster" Target="/ppt/notesMasters/notesMaster1.xml" Id="Rd3371b2506824c7f"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fe443b5ae344ab" /><Relationship Type="http://schemas.openxmlformats.org/officeDocument/2006/relationships/notesMaster" Target="/ppt/notesMasters/notesMaster1.xml" Id="R188582ed86c54045" /></Relationships>
</file>

<file path=ppt/notesSlides/_rels/notesSlide4.xml.rels>&#65279;<?xml version="1.0" encoding="utf-8"?><Relationships xmlns="http://schemas.openxmlformats.org/package/2006/relationships"><Relationship Type="http://schemas.openxmlformats.org/officeDocument/2006/relationships/slide" Target="/ppt/slides/slide4.xml" Id="R0d5c4bef9fb94971" /><Relationship Type="http://schemas.openxmlformats.org/officeDocument/2006/relationships/notesMaster" Target="/ppt/notesMasters/notesMaster1.xml" Id="Ra8d844cf205a4109" /></Relationships>
</file>

<file path=ppt/notesSlides/_rels/notesSlide5.xml.rels>&#65279;<?xml version="1.0" encoding="utf-8"?><Relationships xmlns="http://schemas.openxmlformats.org/package/2006/relationships"><Relationship Type="http://schemas.openxmlformats.org/officeDocument/2006/relationships/slide" Target="/ppt/slides/slide5.xml" Id="R12f0c933c3924a2a" /><Relationship Type="http://schemas.openxmlformats.org/officeDocument/2006/relationships/notesMaster" Target="/ppt/notesMasters/notesMaster1.xml" Id="R782cc6ce00f74d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94e3fdb9094a99" /><Relationship Type="http://schemas.openxmlformats.org/officeDocument/2006/relationships/notesMaster" Target="/ppt/notesMasters/notesMaster1.xml" Id="Rbf935fac86ae467f" /></Relationships>
</file>

<file path=ppt/notesSlides/_rels/notesSlide7.xml.rels>&#65279;<?xml version="1.0" encoding="utf-8"?><Relationships xmlns="http://schemas.openxmlformats.org/package/2006/relationships"><Relationship Type="http://schemas.openxmlformats.org/officeDocument/2006/relationships/slide" Target="/ppt/slides/slide7.xml" Id="R98b6507b511c44a9" /><Relationship Type="http://schemas.openxmlformats.org/officeDocument/2006/relationships/notesMaster" Target="/ppt/notesMasters/notesMaster1.xml" Id="Rfc2b5e5d379b4fdf" /></Relationships>
</file>

<file path=ppt/notesSlides/_rels/notesSlide8.xml.rels>&#65279;<?xml version="1.0" encoding="utf-8"?><Relationships xmlns="http://schemas.openxmlformats.org/package/2006/relationships"><Relationship Type="http://schemas.openxmlformats.org/officeDocument/2006/relationships/slide" Target="/ppt/slides/slide8.xml" Id="R856009e3c68a4328" /><Relationship Type="http://schemas.openxmlformats.org/officeDocument/2006/relationships/notesMaster" Target="/ppt/notesMasters/notesMaster1.xml" Id="Ra7cd9a5575bb423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3080620e65742fd" /><Relationship Type="http://schemas.openxmlformats.org/officeDocument/2006/relationships/notesMaster" Target="/ppt/notesMasters/notesMaster1.xml" Id="Re307ebd5e6fb45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0:00–0:25</a:t>
            </a:r>
          </a:p>
          <a:p xmlns:a="http://schemas.openxmlformats.org/drawingml/2006/main">
            <a:r>
              <a:t/>
            </a:r>
          </a:p>
          <a:p xmlns:a="http://schemas.openxmlformats.org/drawingml/2006/main">
            <a:r>
              <a:t>Imagine being on a roof as floodwater rises. Your phone has a full battery, but no service. The tower is still standing on dry ground. A flood can cut its access, its power, or its connection to the rest of the network. ResiliNet helps emergency communications teams decide where to send a portable tower before the roads close.</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Illustrative opening, not a documented account of a particular person or tower. Mechanism implemented in lib/network.ts.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0:25–0:50</a:t>
            </a:r>
          </a:p>
          <a:p xmlns:a="http://schemas.openxmlformats.org/drawingml/2006/main">
            <a:r>
              <a:t/>
            </a:r>
          </a:p>
          <a:p xmlns:a="http://schemas.openxmlformats.org/drawingml/2006/main">
            <a:r>
              <a:t>This is rooted in a real emergency. On 30 December 2014, reporting put the nationwide number of displaced people at about 237,000. Kelantan was at the centre of that crisis. Families in cut-off communities pleaded for help through social media when they could connect. Communication mattered because it let people ask for help and tell others where they were. Our purpose is to make that connection more resilient.</a:t>
            </a:r>
          </a:p>
          <a:p xmlns:a="http://schemas.openxmlformats.org/drawingml/2006/main">
            <a:r>
              <a:t/>
            </a:r>
          </a:p>
          <a:p xmlns:a="http://schemas.openxmlformats.org/drawingml/2006/main">
            <a:r>
              <a:t>Do not imply that all displaced people lost service. Do not claim every mast survived.</a:t>
            </a:r>
          </a:p>
          <a:p xmlns:a="http://schemas.openxmlformats.org/drawingml/2006/main">
            <a:r>
              <a:t/>
            </a:r>
          </a:p>
          <a:p xmlns:a="http://schemas.openxmlformats.org/drawingml/2006/main">
            <a:r>
              <a:t>SOURCES</a:t>
            </a:r>
          </a:p>
          <a:p xmlns:a="http://schemas.openxmlformats.org/drawingml/2006/main">
            <a:r>
              <a:t>https://www.malaysiakini.com/news/284861 (237,037 nationally at 8:30 pm on 30 Dec; not a Kelantan-only count).</a:t>
            </a:r>
          </a:p>
          <a:p xmlns:a="http://schemas.openxmlformats.org/drawingml/2006/main">
            <a:r>
              <a:t>https://blog.limkitsiang.com/2014/12/27/kelantan-flood-victims-plead-for-aid-via-social-media/amp/ (reproduces The Malaysian Insider, 26 Dec).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0:50–1:30</a:t>
            </a:r>
          </a:p>
          <a:p xmlns:a="http://schemas.openxmlformats.org/drawingml/2006/main">
            <a:r>
              <a:t/>
            </a:r>
          </a:p>
          <a:p xmlns:a="http://schemas.openxmlformats.org/drawingml/2006/main">
            <a:r>
              <a:t>Here is the distinction that matters. The flood map and the communications map answer different questions. A flooded home under a working tower may still call for help. A dry village under a failed tower may not. In our demonstration scenario, 19,595 people occupy cells that remain dry but lose modelled coverage. That is a subset of the people we will see on the next slide. A map of water alone does not reveal that need. ResiliNet follows the dependencies that connect the rain, roads, towers, and people.</a:t>
            </a:r>
          </a:p>
          <a:p xmlns:a="http://schemas.openxmlformats.org/drawingml/2006/main">
            <a:r>
              <a:t/>
            </a:r>
          </a:p>
          <a:p xmlns:a="http://schemas.openxmlformats.org/drawingml/2006/main">
            <a:r>
              <a:t>Counts represent estimated people living in modelled coverage areas, not measured phones, subscribers, calls, or lives saved.</a:t>
            </a:r>
          </a:p>
          <a:p xmlns:a="http://schemas.openxmlformats.org/drawingml/2006/main">
            <a:r>
              <a:t/>
            </a:r>
          </a:p>
          <a:p xmlns:a="http://schemas.openxmlformats.org/drawingml/2006/main">
            <a:r>
              <a:t>SOURCES</a:t>
            </a:r>
          </a:p>
          <a:p xmlns:a="http://schemas.openxmlformats.org/drawingml/2006/main">
            <a:r>
              <a:t>ResiliNet scenario. Kelantan, gauge 27.0 m, planning hour +14 h. Model estimates, not observed outages.</a:t>
            </a:r>
          </a:p>
          <a:p xmlns:a="http://schemas.openxmlformats.org/drawingml/2006/main">
            <a:r>
              <a:t>Verified against coverageHole and the population-aligned HAND raster in the current repository. Dry means HAND is 255 or at least the simulated flood threshold at +14 h. App screenshots: ResiliNet local prototype. Terrain: NASA SRTM. Imagery: Sentinel-2 cloudless 2020, EOX IT Services GmbH, CC BY 4.0, based on modified Copernicus Sentinel data 2020. Roads and settlements: OpenStreetMap contributors, ODbL. Population: WorldPop 2020, CC BY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1:30–2:05</a:t>
            </a:r>
          </a:p>
          <a:p xmlns:a="http://schemas.openxmlformats.org/drawingml/2006/main">
            <a:r>
              <a:t/>
            </a:r>
          </a:p>
          <a:p xmlns:a="http://schemas.openxmlformats.org/drawingml/2006/main">
            <a:r>
              <a:t>Across this valley, the scenario projects 36,614 people losing coverage by hour fourteen, including the dry-ground group. The operator has one portable tower to place. Which hill should it go to? A high hill is not enough if the truck cannot reach it, the terrain blocks the villages, or the tower has no working network to connect to. Our prototype examines fifteen candidate locations. Seven are reachable and have a usable link in this scenario. It gives the officer a specific place to investigate, rather than another layer to interpret.</a:t>
            </a:r>
          </a:p>
          <a:p xmlns:a="http://schemas.openxmlformats.org/drawingml/2006/main">
            <a:r>
              <a:t/>
            </a:r>
          </a:p>
          <a:p xmlns:a="http://schemas.openxmlformats.org/drawingml/2006/main">
            <a:r>
              <a:t>The original draft’s 30 hills is not the current dataset. The four-hour deadline applies to a support convoy’s latest arrival, not a universal portable-tower departure deadline. Use relative hours, not a fixed 04:00 wall clock.</a:t>
            </a:r>
          </a:p>
          <a:p xmlns:a="http://schemas.openxmlformats.org/drawingml/2006/main">
            <a:r>
              <a:t/>
            </a:r>
          </a:p>
          <a:p xmlns:a="http://schemas.openxmlformats.org/drawingml/2006/main">
            <a:r>
              <a:t>SOURCES</a:t>
            </a:r>
          </a:p>
          <a:p xmlns:a="http://schemas.openxmlformats.org/drawingml/2006/main">
            <a:r>
              <a:t>ResiliNet scenario. Kelantan, gauge 27.0 m, planning hour +14 h. Model estimates, not observed outages.</a:t>
            </a:r>
          </a:p>
          <a:p xmlns:a="http://schemas.openxmlformats.org/drawingml/2006/main">
            <a:r>
              <a:t>node scripts/check-sites.mjs kelantan 27</a:t>
            </a:r>
          </a:p>
          <a:p xmlns:a="http://schemas.openxmlformats.org/drawingml/2006/main">
            <a:r>
              <a:t>public/terrain/terrain.json: 15 candidate sites; 7 usable reachable sites.</a:t>
            </a:r>
          </a:p>
          <a:p xmlns:a="http://schemas.openxmlformats.org/drawingml/2006/main">
            <a:r>
              <a:t>WorldPop 2020.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2:05–2:45</a:t>
            </a:r>
          </a:p>
          <a:p xmlns:a="http://schemas.openxmlformats.org/drawingml/2006/main">
            <a:r>
              <a:t/>
            </a:r>
          </a:p>
          <a:p xmlns:a="http://schemas.openxmlformats.org/drawingml/2006/main">
            <a:r>
              <a:t>ResiliNet tests each location in three ways. Can the truck reach it before access closes? Can the tower see people who would otherwise lose signal? Can it connect back to a working part of the network? The model connects rainfall to river level, river level to road access, and tower failures to coverage loss. The map shows the reachable roads and compares candidate sites over real terrain. It uses elevation, a road graph, line-of-sight coverage, and population estimates. The innovation is bringing these dependencies into one decision that an officer can inspect.</a:t>
            </a:r>
          </a:p>
          <a:p xmlns:a="http://schemas.openxmlformats.org/drawingml/2006/main">
            <a:r>
              <a:t/>
            </a:r>
          </a:p>
          <a:p xmlns:a="http://schemas.openxmlformats.org/drawingml/2006/main">
            <a:r>
              <a:t>Explain “links back” as the portable tower’s connection to the wider mobile network. The storm and several physical thresholds are illustrative.</a:t>
            </a:r>
          </a:p>
          <a:p xmlns:a="http://schemas.openxmlformats.org/drawingml/2006/main">
            <a:r>
              <a:t/>
            </a:r>
          </a:p>
          <a:p xmlns:a="http://schemas.openxmlformats.org/drawingml/2006/main">
            <a:r>
              <a:t>SOURCES</a:t>
            </a:r>
          </a:p>
          <a:p xmlns:a="http://schemas.openxmlformats.org/drawingml/2006/main">
            <a:r>
              <a:t>ResiliNet scenario. Kelantan, gauge 27.0 m, planning hour +14 h. Model estimates, not observed outages.</a:t>
            </a:r>
          </a:p>
          <a:p xmlns:a="http://schemas.openxmlformats.org/drawingml/2006/main">
            <a:r>
              <a:t>Implementation: lib/forecast.ts, lib/routing.ts, lib/network.ts, lib/viewshed.ts, lib/sites.ts, lib/recommend.ts.</a:t>
            </a:r>
          </a:p>
          <a:p xmlns:a="http://schemas.openxmlformats.org/drawingml/2006/main">
            <a:r>
              <a:t>App screenshots: ResiliNet local prototype. Terrain: NASA SRTM. Imagery: Sentinel-2 cloudless 2020, EOX IT Services GmbH, CC BY 4.0, based on modified Copernicus Sentinel data 2020. Roads and settlements: OpenStreetMap contributors, ODbL. Population: WorldPop 2020, CC BY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2:45–3:20</a:t>
            </a:r>
          </a:p>
          <a:p xmlns:a="http://schemas.openxmlformats.org/drawingml/2006/main">
            <a:r>
              <a:t/>
            </a:r>
          </a:p>
          <a:p xmlns:a="http://schemas.openxmlformats.org/drawingml/2006/main">
            <a:r>
              <a:t>For this scenario, the portable tower goes near Kampung Bukit Bedak. Routine support has already reduced the gap to 13,811 people. The recommended additional plan keeps or brings 8,604 of them onto signal. That result comes from the portable tower together with support for its network connection. The portable tower itself adds 1,128 people. The plan names a hill, its access route, and the working tower it links to. It also leaves a visible gap: 5,207 people still need another solution. These are modelled coverage estimates, not a claim that we have deployed or saved lives.</a:t>
            </a:r>
          </a:p>
          <a:p xmlns:a="http://schemas.openxmlformats.org/drawingml/2006/main">
            <a:r>
              <a:t/>
            </a:r>
          </a:p>
          <a:p xmlns:a="http://schemas.openxmlformats.org/drawingml/2006/main">
            <a:r>
              <a:t>The guided demo displays 31,407 including routine support. The full app displays 8,604 additional to that baseline. Both reconcile to 36,614 initially at risk.</a:t>
            </a:r>
          </a:p>
          <a:p xmlns:a="http://schemas.openxmlformats.org/drawingml/2006/main">
            <a:r>
              <a:t/>
            </a:r>
          </a:p>
          <a:p xmlns:a="http://schemas.openxmlformats.org/drawingml/2006/main">
            <a:r>
              <a:t>SOURCES</a:t>
            </a:r>
          </a:p>
          <a:p xmlns:a="http://schemas.openxmlformats.org/drawingml/2006/main">
            <a:r>
              <a:t>ResiliNet scenario. Kelantan, gauge 27.0 m, planning hour +14 h. Model estimates, not observed outages.</a:t>
            </a:r>
          </a:p>
          <a:p xmlns:a="http://schemas.openxmlformats.org/drawingml/2006/main">
            <a:r>
              <a:t>node scripts/check-sites.mjs kelantan 27: baseline keeps 22,803; residual 13,811; combined plan 8,604 = support at Kuala Balah 7,476 + portable tower 1,128; remaining 5,207.</a:t>
            </a:r>
          </a:p>
          <a:p xmlns:a="http://schemas.openxmlformats.org/drawingml/2006/main">
            <a:r>
              <a:t>App screenshots: ResiliNet local prototype. Terrain: NASA SRTM. Imagery: Sentinel-2 cloudless 2020, EOX IT Services GmbH, CC BY 4.0, based on modified Copernicus Sentinel data 2020. Roads and settlements: OpenStreetMap contributors, ODbL. Population: WorldPop 2020, CC BY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3:20–3:55</a:t>
            </a:r>
          </a:p>
          <a:p xmlns:a="http://schemas.openxmlformats.org/drawingml/2006/main">
            <a:r>
              <a:t/>
            </a:r>
          </a:p>
          <a:p xmlns:a="http://schemas.openxmlformats.org/drawingml/2006/main">
            <a:r>
              <a:t>The geography comes from public data: NASA elevation, OpenStreetMap roads, WorldPop population, and open cell records. WeatherNext 3 supplies an AI forecast option with uncertainty estimates. This demonstration uses a synthetic storm so the full decision unfolds in one sitting. We also checked parts of the chain against December 2014. The bridge and town-access checks match, one village’s communications failure is missed, and the operator comparison is partial. The river model still needs calibration. We expose those limits because an operational decision needs traceable assumptions, not just an impressive map.</a:t>
            </a:r>
          </a:p>
          <a:p xmlns:a="http://schemas.openxmlformats.org/drawingml/2006/main">
            <a:r>
              <a:t/>
            </a:r>
          </a:p>
          <a:p xmlns:a="http://schemas.openxmlformats.org/drawingml/2006/main">
            <a:r>
              <a:t>Historical checks are partial mechanism checks at a reported peak, not an end-to-end validated 2014 forecast. The shipped rainfall model does not reproduce the historical peak.</a:t>
            </a:r>
          </a:p>
          <a:p xmlns:a="http://schemas.openxmlformats.org/drawingml/2006/main">
            <a:r>
              <a:t/>
            </a:r>
          </a:p>
          <a:p xmlns:a="http://schemas.openxmlformats.org/drawingml/2006/main">
            <a:r>
              <a:t>SOURCES</a:t>
            </a:r>
          </a:p>
          <a:p xmlns:a="http://schemas.openxmlformats.org/drawingml/2006/main">
            <a:r>
              <a:t>https://science.nasa.gov/mission/srtm/</a:t>
            </a:r>
          </a:p>
          <a:p xmlns:a="http://schemas.openxmlformats.org/drawingml/2006/main">
            <a:r>
              <a:t>https://www.openstreetmap.org/copyright</a:t>
            </a:r>
          </a:p>
          <a:p xmlns:a="http://schemas.openxmlformats.org/drawingml/2006/main">
            <a:r>
              <a:t>https://hub.worldpop.org/geodata/summary?id=49771</a:t>
            </a:r>
          </a:p>
          <a:p xmlns:a="http://schemas.openxmlformats.org/drawingml/2006/main">
            <a:r>
              <a:t>https://opencellid.org/</a:t>
            </a:r>
          </a:p>
          <a:p xmlns:a="http://schemas.openxmlformats.org/drawingml/2006/main">
            <a:r>
              <a:t>https://deepmind.google/science/weathernext/</a:t>
            </a:r>
          </a:p>
          <a:p xmlns:a="http://schemas.openxmlformats.org/drawingml/2006/main">
            <a:r>
              <a:t>https://cds.climate.copernicus.eu/datasets/reanalysis-era5-land</a:t>
            </a:r>
          </a:p>
          <a:p xmlns:a="http://schemas.openxmlformats.org/drawingml/2006/main">
            <a:r>
              <a:t>node scripts/check-hindcast.mjs; lib/method.ts; README.md</a:t>
            </a:r>
          </a:p>
          <a:p xmlns:a="http://schemas.openxmlformats.org/drawingml/2006/main">
            <a:r>
              <a:t>App screenshots: ResiliNet local prototype. Terrain: NASA SRTM. Imagery: Sentinel-2 cloudless 2020, EOX IT Services GmbH, CC BY 4.0, based on modified Copernicus Sentinel data 2020. Roads and settlements: OpenStreetMap contributors, ODbL. Population: WorldPop 2020, CC BY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3:55–4:25</a:t>
            </a:r>
          </a:p>
          <a:p xmlns:a="http://schemas.openxmlformats.org/drawingml/2006/main">
            <a:r>
              <a:t/>
            </a:r>
          </a:p>
          <a:p xmlns:a="http://schemas.openxmlformats.org/drawingml/2006/main">
            <a:r>
              <a:t>The same code already runs in two valleys: the Galas in Kelantan and the Padas in Sabah. Each has a prepared terrain and infrastructure dataset. Once the application and those assets are available locally, the demo needs no internet connection, API keys, or backend services to run. That makes it practical to demonstrate in an operations room. Expansion is repeatable, but it is not automatic validation. The next step is a pilot using an operator’s verified sites and failure reports, together with local hydrology and ground checks.</a:t>
            </a:r>
          </a:p>
          <a:p xmlns:a="http://schemas.openxmlformats.org/drawingml/2006/main">
            <a:r>
              <a:t/>
            </a:r>
          </a:p>
          <a:p xmlns:a="http://schemas.openxmlformats.org/drawingml/2006/main">
            <a:r>
              <a:t>An initial download and local static serving/setup are required. Building or refreshing datasets can require online services and credentials. No claim of a completed operational deployment.</a:t>
            </a:r>
          </a:p>
          <a:p xmlns:a="http://schemas.openxmlformats.org/drawingml/2006/main">
            <a:r>
              <a:t/>
            </a:r>
          </a:p>
          <a:p xmlns:a="http://schemas.openxmlformats.org/drawingml/2006/main">
            <a:r>
              <a:t>SOURCES</a:t>
            </a:r>
          </a:p>
          <a:p xmlns:a="http://schemas.openxmlformats.org/drawingml/2006/main">
            <a:r>
              <a:t>Repository: lib/maps.ts; public/terrain; public/terrain-padas; scripts/bake-terrain.mjs; next.config.ts; README.md.</a:t>
            </a:r>
          </a:p>
          <a:p xmlns:a="http://schemas.openxmlformats.org/drawingml/2006/main">
            <a:r>
              <a:t>App screenshots: ResiliNet local prototype. Terrain: NASA SRTM. Imagery: Sentinel-2 cloudless 2020, EOX IT Services GmbH, CC BY 4.0, based on modified Copernicus Sentinel data 2020. Roads and settlements: OpenStreetMap contributors, ODbL. Population: WorldPop 2020, CC BY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4:25–4:50, then switch by 5:00</a:t>
            </a:r>
          </a:p>
          <a:p xmlns:a="http://schemas.openxmlformats.org/drawingml/2006/main">
            <a:r>
              <a:t/>
            </a:r>
          </a:p>
          <a:p xmlns:a="http://schemas.openxmlformats.org/drawingml/2006/main">
            <a:r>
              <a:t>Floods change while you are making the decision. A new report says a tower you relied on has failed. The officer updates that site and the app recalculates the recommendation. Our next step is an operator-data pilot: verify the sites, validate the river response, and test the recommendations against actual access conditions. For now, let me show you the complete decision in two minutes, including what happens when the tower we counted on is reported lost.</a:t>
            </a:r>
          </a:p>
          <a:p xmlns:a="http://schemas.openxmlformats.org/drawingml/2006/main">
            <a:r>
              <a:t/>
            </a:r>
          </a:p>
          <a:p xmlns:a="http://schemas.openxmlformats.org/drawingml/2006/main">
            <a:r>
              <a:t>LIVE DEMO 5:00–7:00</a:t>
            </a:r>
          </a:p>
          <a:p xmlns:a="http://schemas.openxmlformats.org/drawingml/2006/main">
            <a:r>
              <a:t>Use /explore for a controlled demonstration. The homepage loops automatically; pause it if using it instead.</a:t>
            </a:r>
          </a:p>
          <a:p xmlns:a="http://schemas.openxmlformats.org/drawingml/2006/main">
            <a:r>
              <a:t>5:00–5:20: Kelantan, Scenario, 27.0 m. Point to real terrain and the communities.</a:t>
            </a:r>
          </a:p>
          <a:p xmlns:a="http://schemas.openxmlformats.org/drawingml/2006/main">
            <a:r>
              <a:t>5:20–5:42: Forecast. Let the storm play, then select the default +14 h outage.</a:t>
            </a:r>
          </a:p>
          <a:p xmlns:a="http://schemas.openxmlformats.org/drawingml/2006/main">
            <a:r>
              <a:t>5:42–6:12: Site, Start. Explain the three location checks while the roads and candidates animate.</a:t>
            </a:r>
          </a:p>
          <a:p xmlns:a="http://schemas.openxmlformats.org/drawingml/2006/main">
            <a:r>
              <a:t>6:12–6:35: Show the Bukit Bedak recommendation and 8,604 additional people. Mention the separate routine-support baseline so the totals are clear.</a:t>
            </a:r>
          </a:p>
          <a:p xmlns:a="http://schemas.openxmlformats.org/drawingml/2006/main">
            <a:r>
              <a:t>6:35–6:55: Tap Kuala Balah once to report it down; show the changed plan. Say the number on screen rather than precommitting to one.</a:t>
            </a:r>
          </a:p>
          <a:p xmlns:a="http://schemas.openxmlformats.org/drawingml/2006/main">
            <a:r>
              <a:t>6:55–7:00: Close with the request for an operator-data pilot.</a:t>
            </a:r>
          </a:p>
          <a:p xmlns:a="http://schemas.openxmlformats.org/drawingml/2006/main">
            <a:r>
              <a:t>Rehearse the exact browser build and keep the result slide as the fallback if the live demo fails.</a:t>
            </a:r>
          </a:p>
          <a:p xmlns:a="http://schemas.openxmlformats.org/drawingml/2006/main">
            <a:r>
              <a:t/>
            </a:r>
          </a:p>
          <a:p xmlns:a="http://schemas.openxmlformats.org/drawingml/2006/main">
            <a:r>
              <a:t>SOURCES</a:t>
            </a:r>
          </a:p>
          <a:p xmlns:a="http://schemas.openxmlformats.org/drawingml/2006/main">
            <a:r>
              <a:t>Implementation: components/resilinet-dashboard.tsx, onSiteTap and buildPlan. The draft’s 0.2-second claim is omitted because no reproducible device-specific benchmark was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3691800c83478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0aededd3734776" /><Relationship Type="http://schemas.openxmlformats.org/officeDocument/2006/relationships/slideLayout" Target="/ppt/slideLayouts/slideLayout1.xml" Id="Rf8c29dd151774c4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c29dd151774c4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8220cb756514de2" /><Relationship Type="http://schemas.openxmlformats.org/officeDocument/2006/relationships/notesSlide" Target="/ppt/notesSlides/notesSlide1.xml" Id="R7fd22fc524e849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00682fd10eb4d31" /><Relationship Type="http://schemas.openxmlformats.org/officeDocument/2006/relationships/notesSlide" Target="/ppt/notesSlides/notesSlide2.xml" Id="Rd04507af357341f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7228788f8024656" /><Relationship Type="http://schemas.openxmlformats.org/officeDocument/2006/relationships/notesSlide" Target="/ppt/notesSlides/notesSlide3.xml" Id="R0acda51ae60848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2074bc51bb244b9" /><Relationship Type="http://schemas.openxmlformats.org/officeDocument/2006/relationships/notesSlide" Target="/ppt/notesSlides/notesSlide4.xml" Id="R54af3fdf3ae94e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080555194524c3d" /><Relationship Type="http://schemas.openxmlformats.org/officeDocument/2006/relationships/image" Target="/ppt/media/image.jpeg" Id="R04365b80cbec4d18" /><Relationship Type="http://schemas.openxmlformats.org/officeDocument/2006/relationships/notesSlide" Target="/ppt/notesSlides/notesSlide5.xml" Id="R177680a6f663439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2e152bc23e549da" /><Relationship Type="http://schemas.openxmlformats.org/officeDocument/2006/relationships/image" Target="/ppt/media/image2.jpeg" Id="R05369fa64f1144d9" /><Relationship Type="http://schemas.openxmlformats.org/officeDocument/2006/relationships/notesSlide" Target="/ppt/notesSlides/notesSlide6.xml" Id="Rd9fd69bd49c14a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b1a8aa11cb549f1" /><Relationship Type="http://schemas.openxmlformats.org/officeDocument/2006/relationships/image" Target="/ppt/media/image3.jpeg" Id="Re5d54c1857cc46c6" /><Relationship Type="http://schemas.openxmlformats.org/officeDocument/2006/relationships/notesSlide" Target="/ppt/notesSlides/notesSlide7.xml" Id="R354b0da37b9141f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8335a0fb63249b4" /><Relationship Type="http://schemas.openxmlformats.org/officeDocument/2006/relationships/image" Target="/ppt/media/image4.jpeg" Id="R59ac136bea944945" /><Relationship Type="http://schemas.openxmlformats.org/officeDocument/2006/relationships/image" Target="/ppt/media/image5.jpeg" Id="R13472cc706bb44ae" /><Relationship Type="http://schemas.openxmlformats.org/officeDocument/2006/relationships/notesSlide" Target="/ppt/notesSlides/notesSlide8.xml" Id="R1c42445da8954dd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6128da928244e55" /><Relationship Type="http://schemas.openxmlformats.org/officeDocument/2006/relationships/notesSlide" Target="/ppt/notesSlides/notesSlide9.xml" Id="R27220e0639b44a9a" /></Relationships>
</file>

<file path=ppt/slides/slide1.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6" name="Full battery.">
            <a:extLst xmlns:a="http://schemas.openxmlformats.org/drawingml/2006/main">
              <a:ext uri="{FF2B5EF4-FFF2-40B4-BE49-F238E27FC236}">
                <a16:creationId xmlns:a16="http://schemas.microsoft.com/office/drawing/2014/main" id="{87B2710F-D8BB-4532-9BC6-618C9F0EB34D}"/>
              </a:ext>
            </a:extLst>
          </p:cNvPr>
          <p:cNvSpPr>
            <a:spLocks xmlns:a="http://schemas.openxmlformats.org/drawingml/2006/main" noGrp="1"/>
          </p:cNvSpPr>
          <p:nvPr/>
        </p:nvSpPr>
        <p:spPr>
          <a:xfrm xmlns:a="http://schemas.openxmlformats.org/drawingml/2006/main">
            <a:off x="762000" y="1600200"/>
            <a:ext cx="13716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900" b="1">
                <a:solidFill>
                  <a:srgbClr val="FFFFFF"/>
                </a:solidFill>
                <a:latin typeface="Helvetica Neue"/>
                <a:ea typeface="Helvetica Neue"/>
                <a:cs typeface="Helvetica Neue"/>
              </a:defRPr>
            </a:pPr>
            <a:r>
              <a:rPr sz="9900" b="1">
                <a:solidFill>
                  <a:srgbClr val="FFFFFF"/>
                </a:solidFill>
                <a:latin typeface="Helvetica Neue"/>
                <a:ea typeface="Helvetica Neue"/>
                <a:cs typeface="Helvetica Neue"/>
              </a:rPr>
              <a:t>Full battery.</a:t>
            </a:r>
          </a:p>
        </p:txBody>
      </p:sp>
      <p:sp>
        <p:nvSpPr>
          <p:cNvPr id="2" name="No service.">
            <a:extLst xmlns:a="http://schemas.openxmlformats.org/drawingml/2006/main">
              <a:ext uri="{FF2B5EF4-FFF2-40B4-BE49-F238E27FC236}">
                <a16:creationId xmlns:a16="http://schemas.microsoft.com/office/drawing/2014/main" id="{323EE89E-4758-4CF2-9456-C25A21ED9ADA}"/>
              </a:ext>
            </a:extLst>
          </p:cNvPr>
          <p:cNvSpPr>
            <a:spLocks xmlns:a="http://schemas.openxmlformats.org/drawingml/2006/main" noGrp="1"/>
          </p:cNvSpPr>
          <p:nvPr/>
        </p:nvSpPr>
        <p:spPr>
          <a:xfrm xmlns:a="http://schemas.openxmlformats.org/drawingml/2006/main">
            <a:off x="762000" y="3095625"/>
            <a:ext cx="13716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550" b="1">
                <a:solidFill>
                  <a:srgbClr val="FFFFFF"/>
                </a:solidFill>
                <a:latin typeface="Helvetica Neue"/>
                <a:ea typeface="Helvetica Neue"/>
                <a:cs typeface="Helvetica Neue"/>
              </a:defRPr>
            </a:pPr>
            <a:r>
              <a:rPr sz="11550" b="1">
                <a:solidFill>
                  <a:srgbClr val="FFFFFF"/>
                </a:solidFill>
                <a:latin typeface="Helvetica Neue"/>
                <a:ea typeface="Helvetica Neue"/>
                <a:cs typeface="Helvetica Neue"/>
              </a:rPr>
              <a:t>No service.</a:t>
            </a:r>
          </a:p>
        </p:txBody>
      </p:sp>
      <p:sp>
        <p:nvSpPr>
          <p:cNvPr id="3" name="The tower is standing. On dry ground.">
            <a:extLst xmlns:a="http://schemas.openxmlformats.org/drawingml/2006/main">
              <a:ext uri="{FF2B5EF4-FFF2-40B4-BE49-F238E27FC236}">
                <a16:creationId xmlns:a16="http://schemas.microsoft.com/office/drawing/2014/main" id="{C5FFEC2B-BCD0-41E6-94F6-4F721F97FE12}"/>
              </a:ext>
            </a:extLst>
          </p:cNvPr>
          <p:cNvSpPr>
            <a:spLocks xmlns:a="http://schemas.openxmlformats.org/drawingml/2006/main" noGrp="1"/>
          </p:cNvSpPr>
          <p:nvPr/>
        </p:nvSpPr>
        <p:spPr>
          <a:xfrm xmlns:a="http://schemas.openxmlformats.org/drawingml/2006/main">
            <a:off x="819150" y="5391150"/>
            <a:ext cx="13620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B6C3D2"/>
                </a:solidFill>
                <a:latin typeface="Helvetica Neue"/>
                <a:ea typeface="Helvetica Neue"/>
                <a:cs typeface="Helvetica Neue"/>
              </a:defRPr>
            </a:pPr>
            <a:r>
              <a:rPr sz="3600" b="0">
                <a:solidFill>
                  <a:srgbClr val="B6C3D2"/>
                </a:solidFill>
                <a:latin typeface="Helvetica Neue"/>
                <a:ea typeface="Helvetica Neue"/>
                <a:cs typeface="Helvetica Neue"/>
              </a:rPr>
              <a:t>The tower is standing. On dry ground.</a:t>
            </a:r>
          </a:p>
        </p:txBody>
      </p:sp>
      <p:sp>
        <p:nvSpPr>
          <p:cNvPr id="4" name="ResiliNet">
            <a:extLst xmlns:a="http://schemas.openxmlformats.org/drawingml/2006/main">
              <a:ext uri="{FF2B5EF4-FFF2-40B4-BE49-F238E27FC236}">
                <a16:creationId xmlns:a16="http://schemas.microsoft.com/office/drawing/2014/main" id="{A8D892DE-DC6C-4A4F-BF63-04E0C8BAE159}"/>
              </a:ext>
            </a:extLst>
          </p:cNvPr>
          <p:cNvSpPr>
            <a:spLocks xmlns:a="http://schemas.openxmlformats.org/drawingml/2006/main" noGrp="1"/>
          </p:cNvSpPr>
          <p:nvPr/>
        </p:nvSpPr>
        <p:spPr>
          <a:xfrm xmlns:a="http://schemas.openxmlformats.org/drawingml/2006/main">
            <a:off x="819150" y="7239000"/>
            <a:ext cx="2571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ResiliNet</a:t>
            </a:r>
          </a:p>
        </p:txBody>
      </p:sp>
      <p:sp>
        <p:nvSpPr>
          <p:cNvPr id="5" name="Flood-response planning for mobile networks">
            <a:extLst xmlns:a="http://schemas.openxmlformats.org/drawingml/2006/main">
              <a:ext uri="{FF2B5EF4-FFF2-40B4-BE49-F238E27FC236}">
                <a16:creationId xmlns:a16="http://schemas.microsoft.com/office/drawing/2014/main" id="{8D2D5C6C-8EB8-434A-A6FC-9D5BAB57E40F}"/>
              </a:ext>
            </a:extLst>
          </p:cNvPr>
          <p:cNvSpPr>
            <a:spLocks xmlns:a="http://schemas.openxmlformats.org/drawingml/2006/main" noGrp="1"/>
          </p:cNvSpPr>
          <p:nvPr/>
        </p:nvSpPr>
        <p:spPr>
          <a:xfrm xmlns:a="http://schemas.openxmlformats.org/drawingml/2006/main">
            <a:off x="3467100" y="7296150"/>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94A3B8"/>
                </a:solidFill>
                <a:latin typeface="Helvetica Neue"/>
                <a:ea typeface="Helvetica Neue"/>
                <a:cs typeface="Helvetica Neue"/>
              </a:defRPr>
            </a:pPr>
            <a:r>
              <a:rPr sz="2100" b="0">
                <a:solidFill>
                  <a:srgbClr val="94A3B8"/>
                </a:solidFill>
                <a:latin typeface="Helvetica Neue"/>
                <a:ea typeface="Helvetica Neue"/>
                <a:cs typeface="Helvetica Neue"/>
              </a:rPr>
              <a:t>Flood-response planning for mobile networks</a:t>
            </a:r>
          </a:p>
        </p:txBody>
      </p:sp>
    </p:spTree>
    <p:extLst>
      <p:ext uri="{BB962C8B-B14F-4D97-AF65-F5344CB8AC3E}">
        <p14:creationId xmlns:p14="http://schemas.microsoft.com/office/powerpoint/2010/main" val="1313428130"/>
      </p:ext>
    </p:extLst>
  </p:cSld>
</p:sld>
</file>

<file path=ppt/slides/slide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Malaysia’s floods, December 2014">
            <a:extLst xmlns:a="http://schemas.openxmlformats.org/drawingml/2006/main">
              <a:ext uri="{FF2B5EF4-FFF2-40B4-BE49-F238E27FC236}">
                <a16:creationId xmlns:a16="http://schemas.microsoft.com/office/drawing/2014/main" id="{00D03696-6E74-4275-B013-ED550A9F38BF}"/>
              </a:ext>
            </a:extLst>
          </p:cNvPr>
          <p:cNvSpPr>
            <a:spLocks xmlns:a="http://schemas.openxmlformats.org/drawingml/2006/main" noGrp="1"/>
          </p:cNvSpPr>
          <p:nvPr/>
        </p:nvSpPr>
        <p:spPr>
          <a:xfrm xmlns:a="http://schemas.openxmlformats.org/drawingml/2006/main">
            <a:off x="762000" y="59055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3" b="1">
                <a:solidFill>
                  <a:srgbClr val="111827"/>
                </a:solidFill>
                <a:latin typeface="Helvetica Neue"/>
                <a:ea typeface="Helvetica Neue"/>
                <a:cs typeface="Helvetica Neue"/>
              </a:defRPr>
            </a:pPr>
            <a:r>
              <a:rPr sz="4403" b="1">
                <a:solidFill>
                  <a:srgbClr val="111827"/>
                </a:solidFill>
                <a:latin typeface="Helvetica Neue"/>
                <a:ea typeface="Helvetica Neue"/>
                <a:cs typeface="Helvetica Neue"/>
              </a:rPr>
              <a:t>Malaysia’s floods, December 2014</a:t>
            </a:r>
          </a:p>
        </p:txBody>
      </p:sp>
      <p:sp>
        <p:nvSpPr>
          <p:cNvPr id="2" name="237,000">
            <a:extLst xmlns:a="http://schemas.openxmlformats.org/drawingml/2006/main">
              <a:ext uri="{FF2B5EF4-FFF2-40B4-BE49-F238E27FC236}">
                <a16:creationId xmlns:a16="http://schemas.microsoft.com/office/drawing/2014/main" id="{9C54C3F3-729C-47B7-86FC-EE030EFAF4E7}"/>
              </a:ext>
            </a:extLst>
          </p:cNvPr>
          <p:cNvSpPr>
            <a:spLocks xmlns:a="http://schemas.openxmlformats.org/drawingml/2006/main" noGrp="1"/>
          </p:cNvSpPr>
          <p:nvPr/>
        </p:nvSpPr>
        <p:spPr>
          <a:xfrm xmlns:a="http://schemas.openxmlformats.org/drawingml/2006/main">
            <a:off x="666750" y="2266950"/>
            <a:ext cx="139065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0" b="1">
                <a:solidFill>
                  <a:srgbClr val="1D4ED8"/>
                </a:solidFill>
                <a:latin typeface="Helvetica Neue"/>
                <a:ea typeface="Helvetica Neue"/>
                <a:cs typeface="Helvetica Neue"/>
              </a:defRPr>
            </a:pPr>
            <a:r>
              <a:rPr sz="23250" b="1">
                <a:solidFill>
                  <a:srgbClr val="1D4ED8"/>
                </a:solidFill>
                <a:latin typeface="Helvetica Neue"/>
                <a:ea typeface="Helvetica Neue"/>
                <a:cs typeface="Helvetica Neue"/>
              </a:rPr>
              <a:t>237,000</a:t>
            </a:r>
          </a:p>
        </p:txBody>
      </p:sp>
      <p:sp>
        <p:nvSpPr>
          <p:cNvPr id="3" name="people displaced nationwide">
            <a:extLst xmlns:a="http://schemas.openxmlformats.org/drawingml/2006/main">
              <a:ext uri="{FF2B5EF4-FFF2-40B4-BE49-F238E27FC236}">
                <a16:creationId xmlns:a16="http://schemas.microsoft.com/office/drawing/2014/main" id="{E10F3A8B-2807-4447-BF21-ABC708945E14}"/>
              </a:ext>
            </a:extLst>
          </p:cNvPr>
          <p:cNvSpPr>
            <a:spLocks xmlns:a="http://schemas.openxmlformats.org/drawingml/2006/main" noGrp="1"/>
          </p:cNvSpPr>
          <p:nvPr/>
        </p:nvSpPr>
        <p:spPr>
          <a:xfrm xmlns:a="http://schemas.openxmlformats.org/drawingml/2006/main">
            <a:off x="838200" y="5895975"/>
            <a:ext cx="13335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11827"/>
                </a:solidFill>
                <a:latin typeface="Helvetica Neue"/>
                <a:ea typeface="Helvetica Neue"/>
                <a:cs typeface="Helvetica Neue"/>
              </a:defRPr>
            </a:pPr>
            <a:r>
              <a:rPr sz="3225" b="0">
                <a:solidFill>
                  <a:srgbClr val="111827"/>
                </a:solidFill>
                <a:latin typeface="Helvetica Neue"/>
                <a:ea typeface="Helvetica Neue"/>
                <a:cs typeface="Helvetica Neue"/>
              </a:rPr>
              <a:t>people displaced nationwide</a:t>
            </a:r>
          </a:p>
        </p:txBody>
      </p:sp>
      <p:sp>
        <p:nvSpPr>
          <p:cNvPr id="4" name="In Kelantan, families pleaded for help when t">
            <a:extLst xmlns:a="http://schemas.openxmlformats.org/drawingml/2006/main">
              <a:ext uri="{FF2B5EF4-FFF2-40B4-BE49-F238E27FC236}">
                <a16:creationId xmlns:a16="http://schemas.microsoft.com/office/drawing/2014/main" id="{6DDF7801-0345-432F-AAA8-0BA27760BCD2}"/>
              </a:ext>
            </a:extLst>
          </p:cNvPr>
          <p:cNvSpPr>
            <a:spLocks xmlns:a="http://schemas.openxmlformats.org/drawingml/2006/main" noGrp="1"/>
          </p:cNvSpPr>
          <p:nvPr/>
        </p:nvSpPr>
        <p:spPr>
          <a:xfrm xmlns:a="http://schemas.openxmlformats.org/drawingml/2006/main">
            <a:off x="838200" y="7058025"/>
            <a:ext cx="1352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In Kelantan, families pleaded for help when they found signal.</a:t>
            </a:r>
          </a:p>
        </p:txBody>
      </p:sp>
      <p:sp>
        <p:nvSpPr>
          <p:cNvPr id="5" name="Malaysiakini, 30 Dec 2014. Kelantan reporting">
            <a:extLst xmlns:a="http://schemas.openxmlformats.org/drawingml/2006/main">
              <a:ext uri="{FF2B5EF4-FFF2-40B4-BE49-F238E27FC236}">
                <a16:creationId xmlns:a16="http://schemas.microsoft.com/office/drawing/2014/main" id="{90C4394A-DE95-4CDA-B144-5C459BF77BF8}"/>
              </a:ext>
            </a:extLst>
          </p:cNvPr>
          <p:cNvSpPr>
            <a:spLocks xmlns:a="http://schemas.openxmlformats.org/drawingml/2006/main" noGrp="1"/>
          </p:cNvSpPr>
          <p:nvPr/>
        </p:nvSpPr>
        <p:spPr>
          <a:xfrm xmlns:a="http://schemas.openxmlformats.org/drawingml/2006/main">
            <a:off x="762000" y="8048625"/>
            <a:ext cx="12954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2" b="0">
                <a:solidFill>
                  <a:srgbClr val="6B7280"/>
                </a:solidFill>
                <a:latin typeface="Helvetica Neue"/>
                <a:ea typeface="Helvetica Neue"/>
                <a:cs typeface="Helvetica Neue"/>
              </a:defRPr>
            </a:pPr>
            <a:r>
              <a:rPr sz="1402" b="0">
                <a:solidFill>
                  <a:srgbClr val="6B7280"/>
                </a:solidFill>
                <a:latin typeface="Helvetica Neue"/>
                <a:ea typeface="Helvetica Neue"/>
                <a:cs typeface="Helvetica Neue"/>
              </a:rPr>
              <a:t>Malaysiakini, 30 Dec 2014. Kelantan reporting: The Malaysian Insider, 26 Dec 2014.</a:t>
            </a:r>
          </a:p>
        </p:txBody>
      </p:sp>
      <p:sp>
        <p:nvSpPr>
          <p:cNvPr id="6" name="02">
            <a:extLst xmlns:a="http://schemas.openxmlformats.org/drawingml/2006/main">
              <a:ext uri="{FF2B5EF4-FFF2-40B4-BE49-F238E27FC236}">
                <a16:creationId xmlns:a16="http://schemas.microsoft.com/office/drawing/2014/main" id="{A4A5F195-1C7F-4FD6-8767-671F37D404A1}"/>
              </a:ext>
            </a:extLst>
          </p:cNvPr>
          <p:cNvSpPr>
            <a:spLocks xmlns:a="http://schemas.openxmlformats.org/drawingml/2006/main" noGrp="1"/>
          </p:cNvSpPr>
          <p:nvPr/>
        </p:nvSpPr>
        <p:spPr>
          <a:xfrm xmlns:a="http://schemas.openxmlformats.org/drawingml/2006/main">
            <a:off x="13906500" y="804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02" b="0">
                <a:solidFill>
                  <a:srgbClr val="6B7280"/>
                </a:solidFill>
                <a:latin typeface="Helvetica Neue"/>
                <a:ea typeface="Helvetica Neue"/>
                <a:cs typeface="Helvetica Neue"/>
              </a:defRPr>
            </a:pPr>
            <a:r>
              <a:rPr sz="1402" b="0">
                <a:solidFill>
                  <a:srgbClr val="6B7280"/>
                </a:solidFill>
                <a:latin typeface="Helvetica Neue"/>
                <a:ea typeface="Helvetica Neue"/>
                <a:cs typeface="Helvetica Neue"/>
              </a:rPr>
              <a:t>02</a:t>
            </a:r>
          </a:p>
        </p:txBody>
      </p:sp>
    </p:spTree>
    <p:extLst>
      <p:ext uri="{BB962C8B-B14F-4D97-AF65-F5344CB8AC3E}">
        <p14:creationId xmlns:p14="http://schemas.microsoft.com/office/powerpoint/2010/main" val="2058531998"/>
      </p:ext>
    </p:extLst>
  </p:cSld>
</p:sld>
</file>

<file path=ppt/slides/slide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Dry ground can still lose signal">
            <a:extLst xmlns:a="http://schemas.openxmlformats.org/drawingml/2006/main">
              <a:ext uri="{FF2B5EF4-FFF2-40B4-BE49-F238E27FC236}">
                <a16:creationId xmlns:a16="http://schemas.microsoft.com/office/drawing/2014/main" id="{861D9435-2DB4-4225-8CFC-F3F4762E6F51}"/>
              </a:ext>
            </a:extLst>
          </p:cNvPr>
          <p:cNvSpPr>
            <a:spLocks xmlns:a="http://schemas.openxmlformats.org/drawingml/2006/main" noGrp="1"/>
          </p:cNvSpPr>
          <p:nvPr/>
        </p:nvSpPr>
        <p:spPr>
          <a:xfrm xmlns:a="http://schemas.openxmlformats.org/drawingml/2006/main">
            <a:off x="762000" y="59055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3" b="1">
                <a:solidFill>
                  <a:srgbClr val="111827"/>
                </a:solidFill>
                <a:latin typeface="Helvetica Neue"/>
                <a:ea typeface="Helvetica Neue"/>
                <a:cs typeface="Helvetica Neue"/>
              </a:defRPr>
            </a:pPr>
            <a:r>
              <a:rPr sz="4403" b="1">
                <a:solidFill>
                  <a:srgbClr val="111827"/>
                </a:solidFill>
                <a:latin typeface="Helvetica Neue"/>
                <a:ea typeface="Helvetica Neue"/>
                <a:cs typeface="Helvetica Neue"/>
              </a:rPr>
              <a:t>Dry ground can still lose signal</a:t>
            </a:r>
          </a:p>
        </p:txBody>
      </p:sp>
      <p:sp>
        <p:nvSpPr>
          <p:cNvPr id="2" name="19,595">
            <a:extLst xmlns:a="http://schemas.openxmlformats.org/drawingml/2006/main">
              <a:ext uri="{FF2B5EF4-FFF2-40B4-BE49-F238E27FC236}">
                <a16:creationId xmlns:a16="http://schemas.microsoft.com/office/drawing/2014/main" id="{34537977-FD7B-4DD6-B0D6-97EB472A86F7}"/>
              </a:ext>
            </a:extLst>
          </p:cNvPr>
          <p:cNvSpPr>
            <a:spLocks xmlns:a="http://schemas.openxmlformats.org/drawingml/2006/main" noGrp="1"/>
          </p:cNvSpPr>
          <p:nvPr/>
        </p:nvSpPr>
        <p:spPr>
          <a:xfrm xmlns:a="http://schemas.openxmlformats.org/drawingml/2006/main">
            <a:off x="666750" y="2257425"/>
            <a:ext cx="139065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0" b="1">
                <a:solidFill>
                  <a:srgbClr val="1D4ED8"/>
                </a:solidFill>
                <a:latin typeface="Helvetica Neue"/>
                <a:ea typeface="Helvetica Neue"/>
                <a:cs typeface="Helvetica Neue"/>
              </a:defRPr>
            </a:pPr>
            <a:r>
              <a:rPr sz="23250" b="1">
                <a:solidFill>
                  <a:srgbClr val="1D4ED8"/>
                </a:solidFill>
                <a:latin typeface="Helvetica Neue"/>
                <a:ea typeface="Helvetica Neue"/>
                <a:cs typeface="Helvetica Neue"/>
              </a:rPr>
              <a:t>19,595</a:t>
            </a:r>
          </a:p>
        </p:txBody>
      </p:sp>
      <p:sp>
        <p:nvSpPr>
          <p:cNvPr id="3" name="people on dry ground, without signal">
            <a:extLst xmlns:a="http://schemas.openxmlformats.org/drawingml/2006/main">
              <a:ext uri="{FF2B5EF4-FFF2-40B4-BE49-F238E27FC236}">
                <a16:creationId xmlns:a16="http://schemas.microsoft.com/office/drawing/2014/main" id="{E25689ED-1D20-46E8-A4F8-7A5B5C5643CE}"/>
              </a:ext>
            </a:extLst>
          </p:cNvPr>
          <p:cNvSpPr>
            <a:spLocks xmlns:a="http://schemas.openxmlformats.org/drawingml/2006/main" noGrp="1"/>
          </p:cNvSpPr>
          <p:nvPr/>
        </p:nvSpPr>
        <p:spPr>
          <a:xfrm xmlns:a="http://schemas.openxmlformats.org/drawingml/2006/main">
            <a:off x="838200" y="5895975"/>
            <a:ext cx="1371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11827"/>
                </a:solidFill>
                <a:latin typeface="Helvetica Neue"/>
                <a:ea typeface="Helvetica Neue"/>
                <a:cs typeface="Helvetica Neue"/>
              </a:defRPr>
            </a:pPr>
            <a:r>
              <a:rPr sz="3225" b="0">
                <a:solidFill>
                  <a:srgbClr val="111827"/>
                </a:solidFill>
                <a:latin typeface="Helvetica Neue"/>
                <a:ea typeface="Helvetica Neue"/>
                <a:cs typeface="Helvetica Neue"/>
              </a:rPr>
              <a:t>people on dry ground, without signal</a:t>
            </a:r>
          </a:p>
        </p:txBody>
      </p:sp>
      <p:sp>
        <p:nvSpPr>
          <p:cNvPr id="4" name="The water and the silence are not in the same">
            <a:extLst xmlns:a="http://schemas.openxmlformats.org/drawingml/2006/main">
              <a:ext uri="{FF2B5EF4-FFF2-40B4-BE49-F238E27FC236}">
                <a16:creationId xmlns:a16="http://schemas.microsoft.com/office/drawing/2014/main" id="{F5B8861A-E903-4C94-9D3F-76BAE709502D}"/>
              </a:ext>
            </a:extLst>
          </p:cNvPr>
          <p:cNvSpPr>
            <a:spLocks xmlns:a="http://schemas.openxmlformats.org/drawingml/2006/main" noGrp="1"/>
          </p:cNvSpPr>
          <p:nvPr/>
        </p:nvSpPr>
        <p:spPr>
          <a:xfrm xmlns:a="http://schemas.openxmlformats.org/drawingml/2006/main">
            <a:off x="838200" y="7058025"/>
            <a:ext cx="1362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The water and the silence are not in the same place.</a:t>
            </a:r>
          </a:p>
        </p:txBody>
      </p:sp>
      <p:sp>
        <p:nvSpPr>
          <p:cNvPr id="5" name="Illustrative scenario at +14 h. ResiliNet cov">
            <a:extLst xmlns:a="http://schemas.openxmlformats.org/drawingml/2006/main">
              <a:ext uri="{FF2B5EF4-FFF2-40B4-BE49-F238E27FC236}">
                <a16:creationId xmlns:a16="http://schemas.microsoft.com/office/drawing/2014/main" id="{4292F9AE-C318-48C9-A859-0052497B9707}"/>
              </a:ext>
            </a:extLst>
          </p:cNvPr>
          <p:cNvSpPr>
            <a:spLocks xmlns:a="http://schemas.openxmlformats.org/drawingml/2006/main" noGrp="1"/>
          </p:cNvSpPr>
          <p:nvPr/>
        </p:nvSpPr>
        <p:spPr>
          <a:xfrm xmlns:a="http://schemas.openxmlformats.org/drawingml/2006/main">
            <a:off x="762000" y="8048625"/>
            <a:ext cx="12954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2" b="0">
                <a:solidFill>
                  <a:srgbClr val="6B7280"/>
                </a:solidFill>
                <a:latin typeface="Helvetica Neue"/>
                <a:ea typeface="Helvetica Neue"/>
                <a:cs typeface="Helvetica Neue"/>
              </a:defRPr>
            </a:pPr>
            <a:r>
              <a:rPr sz="1402" b="0">
                <a:solidFill>
                  <a:srgbClr val="6B7280"/>
                </a:solidFill>
                <a:latin typeface="Helvetica Neue"/>
                <a:ea typeface="Helvetica Neue"/>
                <a:cs typeface="Helvetica Neue"/>
              </a:rPr>
              <a:t>Illustrative scenario at +14 h. ResiliNet coverage model and WorldPop 2020.</a:t>
            </a:r>
          </a:p>
        </p:txBody>
      </p:sp>
      <p:sp>
        <p:nvSpPr>
          <p:cNvPr id="6" name="03">
            <a:extLst xmlns:a="http://schemas.openxmlformats.org/drawingml/2006/main">
              <a:ext uri="{FF2B5EF4-FFF2-40B4-BE49-F238E27FC236}">
                <a16:creationId xmlns:a16="http://schemas.microsoft.com/office/drawing/2014/main" id="{52F8D018-5B97-4D7C-96C2-F1939EEC0524}"/>
              </a:ext>
            </a:extLst>
          </p:cNvPr>
          <p:cNvSpPr>
            <a:spLocks xmlns:a="http://schemas.openxmlformats.org/drawingml/2006/main" noGrp="1"/>
          </p:cNvSpPr>
          <p:nvPr/>
        </p:nvSpPr>
        <p:spPr>
          <a:xfrm xmlns:a="http://schemas.openxmlformats.org/drawingml/2006/main">
            <a:off x="13906500" y="804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02" b="0">
                <a:solidFill>
                  <a:srgbClr val="6B7280"/>
                </a:solidFill>
                <a:latin typeface="Helvetica Neue"/>
                <a:ea typeface="Helvetica Neue"/>
                <a:cs typeface="Helvetica Neue"/>
              </a:defRPr>
            </a:pPr>
            <a:r>
              <a:rPr sz="1402" b="0">
                <a:solidFill>
                  <a:srgbClr val="6B7280"/>
                </a:solidFill>
                <a:latin typeface="Helvetica Neue"/>
                <a:ea typeface="Helvetica Neue"/>
                <a:cs typeface="Helvetica Neue"/>
              </a:rPr>
              <a:t>03</a:t>
            </a:r>
          </a:p>
        </p:txBody>
      </p:sp>
    </p:spTree>
    <p:extLst>
      <p:ext uri="{BB962C8B-B14F-4D97-AF65-F5344CB8AC3E}">
        <p14:creationId xmlns:p14="http://schemas.microsoft.com/office/powerpoint/2010/main" val="1713362084"/>
      </p:ext>
    </p:extLst>
  </p:cSld>
</p:sld>
</file>

<file path=ppt/slides/slide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Where should the portable tower go?">
            <a:extLst xmlns:a="http://schemas.openxmlformats.org/drawingml/2006/main">
              <a:ext uri="{FF2B5EF4-FFF2-40B4-BE49-F238E27FC236}">
                <a16:creationId xmlns:a16="http://schemas.microsoft.com/office/drawing/2014/main" id="{9549968B-A216-4B68-865C-65F44AB7BE9F}"/>
              </a:ext>
            </a:extLst>
          </p:cNvPr>
          <p:cNvSpPr>
            <a:spLocks xmlns:a="http://schemas.openxmlformats.org/drawingml/2006/main" noGrp="1"/>
          </p:cNvSpPr>
          <p:nvPr/>
        </p:nvSpPr>
        <p:spPr>
          <a:xfrm xmlns:a="http://schemas.openxmlformats.org/drawingml/2006/main">
            <a:off x="762000" y="59055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3" b="1">
                <a:solidFill>
                  <a:srgbClr val="111827"/>
                </a:solidFill>
                <a:latin typeface="Helvetica Neue"/>
                <a:ea typeface="Helvetica Neue"/>
                <a:cs typeface="Helvetica Neue"/>
              </a:defRPr>
            </a:pPr>
            <a:r>
              <a:rPr sz="4403" b="1">
                <a:solidFill>
                  <a:srgbClr val="111827"/>
                </a:solidFill>
                <a:latin typeface="Helvetica Neue"/>
                <a:ea typeface="Helvetica Neue"/>
                <a:cs typeface="Helvetica Neue"/>
              </a:rPr>
              <a:t>Where should the portable tower go?</a:t>
            </a:r>
          </a:p>
        </p:txBody>
      </p:sp>
      <p:sp>
        <p:nvSpPr>
          <p:cNvPr id="2" name="36,614">
            <a:extLst xmlns:a="http://schemas.openxmlformats.org/drawingml/2006/main">
              <a:ext uri="{FF2B5EF4-FFF2-40B4-BE49-F238E27FC236}">
                <a16:creationId xmlns:a16="http://schemas.microsoft.com/office/drawing/2014/main" id="{F2F7D52D-2646-4BD9-8044-ED76B9C44133}"/>
              </a:ext>
            </a:extLst>
          </p:cNvPr>
          <p:cNvSpPr>
            <a:spLocks xmlns:a="http://schemas.openxmlformats.org/drawingml/2006/main" noGrp="1"/>
          </p:cNvSpPr>
          <p:nvPr/>
        </p:nvSpPr>
        <p:spPr>
          <a:xfrm xmlns:a="http://schemas.openxmlformats.org/drawingml/2006/main">
            <a:off x="704850" y="2257425"/>
            <a:ext cx="137160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0" b="1">
                <a:solidFill>
                  <a:srgbClr val="DC2626"/>
                </a:solidFill>
                <a:latin typeface="Helvetica Neue"/>
                <a:ea typeface="Helvetica Neue"/>
                <a:cs typeface="Helvetica Neue"/>
              </a:defRPr>
            </a:pPr>
            <a:r>
              <a:rPr sz="22500" b="1">
                <a:solidFill>
                  <a:srgbClr val="DC2626"/>
                </a:solidFill>
                <a:latin typeface="Helvetica Neue"/>
                <a:ea typeface="Helvetica Neue"/>
                <a:cs typeface="Helvetica Neue"/>
              </a:rPr>
              <a:t>36,614</a:t>
            </a:r>
          </a:p>
        </p:txBody>
      </p:sp>
      <p:sp>
        <p:nvSpPr>
          <p:cNvPr id="3" name="people projected to lose signal within 14 hou">
            <a:extLst xmlns:a="http://schemas.openxmlformats.org/drawingml/2006/main">
              <a:ext uri="{FF2B5EF4-FFF2-40B4-BE49-F238E27FC236}">
                <a16:creationId xmlns:a16="http://schemas.microsoft.com/office/drawing/2014/main" id="{98DF1A9E-755B-4497-A445-7E2639F0F3BA}"/>
              </a:ext>
            </a:extLst>
          </p:cNvPr>
          <p:cNvSpPr>
            <a:spLocks xmlns:a="http://schemas.openxmlformats.org/drawingml/2006/main" noGrp="1"/>
          </p:cNvSpPr>
          <p:nvPr/>
        </p:nvSpPr>
        <p:spPr>
          <a:xfrm xmlns:a="http://schemas.openxmlformats.org/drawingml/2006/main">
            <a:off x="838200" y="5857875"/>
            <a:ext cx="13335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11827"/>
                </a:solidFill>
                <a:latin typeface="Helvetica Neue"/>
                <a:ea typeface="Helvetica Neue"/>
                <a:cs typeface="Helvetica Neue"/>
              </a:defRPr>
            </a:pPr>
            <a:r>
              <a:rPr sz="3150" b="0">
                <a:solidFill>
                  <a:srgbClr val="111827"/>
                </a:solidFill>
                <a:latin typeface="Helvetica Neue"/>
                <a:ea typeface="Helvetica Neue"/>
                <a:cs typeface="Helvetica Neue"/>
              </a:rPr>
              <a:t>people projected to lose signal within 14 hours</a:t>
            </a:r>
          </a:p>
        </p:txBody>
      </p:sp>
      <p:sp>
        <p:nvSpPr>
          <p:cNvPr id="4" name="One portable tower. Limited access. A decisio">
            <a:extLst xmlns:a="http://schemas.openxmlformats.org/drawingml/2006/main">
              <a:ext uri="{FF2B5EF4-FFF2-40B4-BE49-F238E27FC236}">
                <a16:creationId xmlns:a16="http://schemas.microsoft.com/office/drawing/2014/main" id="{185C589B-FEE9-4114-9A9C-553378AA2258}"/>
              </a:ext>
            </a:extLst>
          </p:cNvPr>
          <p:cNvSpPr>
            <a:spLocks xmlns:a="http://schemas.openxmlformats.org/drawingml/2006/main" noGrp="1"/>
          </p:cNvSpPr>
          <p:nvPr/>
        </p:nvSpPr>
        <p:spPr>
          <a:xfrm xmlns:a="http://schemas.openxmlformats.org/drawingml/2006/main">
            <a:off x="838200" y="7058025"/>
            <a:ext cx="1362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One portable tower. Limited access. A decision before roads close.</a:t>
            </a:r>
          </a:p>
        </p:txBody>
      </p:sp>
      <p:sp>
        <p:nvSpPr>
          <p:cNvPr id="5" name="Illustrative scenario. Kelantan gauge 27.0 m.">
            <a:extLst xmlns:a="http://schemas.openxmlformats.org/drawingml/2006/main">
              <a:ext uri="{FF2B5EF4-FFF2-40B4-BE49-F238E27FC236}">
                <a16:creationId xmlns:a16="http://schemas.microsoft.com/office/drawing/2014/main" id="{7D3BC8BA-87EF-49ED-BB14-77ACF97FCEEE}"/>
              </a:ext>
            </a:extLst>
          </p:cNvPr>
          <p:cNvSpPr>
            <a:spLocks xmlns:a="http://schemas.openxmlformats.org/drawingml/2006/main" noGrp="1"/>
          </p:cNvSpPr>
          <p:nvPr/>
        </p:nvSpPr>
        <p:spPr>
          <a:xfrm xmlns:a="http://schemas.openxmlformats.org/drawingml/2006/main">
            <a:off x="762000" y="8048625"/>
            <a:ext cx="12954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2" b="0">
                <a:solidFill>
                  <a:srgbClr val="6B7280"/>
                </a:solidFill>
                <a:latin typeface="Helvetica Neue"/>
                <a:ea typeface="Helvetica Neue"/>
                <a:cs typeface="Helvetica Neue"/>
              </a:defRPr>
            </a:pPr>
            <a:r>
              <a:rPr sz="1402" b="0">
                <a:solidFill>
                  <a:srgbClr val="6B7280"/>
                </a:solidFill>
                <a:latin typeface="Helvetica Neue"/>
                <a:ea typeface="Helvetica Neue"/>
                <a:cs typeface="Helvetica Neue"/>
              </a:rPr>
              <a:t>Illustrative scenario. Kelantan gauge 27.0 m. Before any response.</a:t>
            </a:r>
          </a:p>
        </p:txBody>
      </p:sp>
      <p:sp>
        <p:nvSpPr>
          <p:cNvPr id="6" name="04">
            <a:extLst xmlns:a="http://schemas.openxmlformats.org/drawingml/2006/main">
              <a:ext uri="{FF2B5EF4-FFF2-40B4-BE49-F238E27FC236}">
                <a16:creationId xmlns:a16="http://schemas.microsoft.com/office/drawing/2014/main" id="{CDC494CD-7851-472D-B35D-537748FF6795}"/>
              </a:ext>
            </a:extLst>
          </p:cNvPr>
          <p:cNvSpPr>
            <a:spLocks xmlns:a="http://schemas.openxmlformats.org/drawingml/2006/main" noGrp="1"/>
          </p:cNvSpPr>
          <p:nvPr/>
        </p:nvSpPr>
        <p:spPr>
          <a:xfrm xmlns:a="http://schemas.openxmlformats.org/drawingml/2006/main">
            <a:off x="13906500" y="804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02" b="0">
                <a:solidFill>
                  <a:srgbClr val="6B7280"/>
                </a:solidFill>
                <a:latin typeface="Helvetica Neue"/>
                <a:ea typeface="Helvetica Neue"/>
                <a:cs typeface="Helvetica Neue"/>
              </a:defRPr>
            </a:pPr>
            <a:r>
              <a:rPr sz="1402" b="0">
                <a:solidFill>
                  <a:srgbClr val="6B7280"/>
                </a:solidFill>
                <a:latin typeface="Helvetica Neue"/>
                <a:ea typeface="Helvetica Neue"/>
                <a:cs typeface="Helvetica Neue"/>
              </a:rPr>
              <a:t>04</a:t>
            </a:r>
          </a:p>
        </p:txBody>
      </p:sp>
    </p:spTree>
    <p:extLst>
      <p:ext uri="{BB962C8B-B14F-4D97-AF65-F5344CB8AC3E}">
        <p14:creationId xmlns:p14="http://schemas.microsoft.com/office/powerpoint/2010/main" val="1270249901"/>
      </p:ext>
    </p:extLst>
  </p:cSld>
</p:sld>
</file>

<file path=ppt/slides/slide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The right hill, before the road closes">
            <a:extLst xmlns:a="http://schemas.openxmlformats.org/drawingml/2006/main">
              <a:ext uri="{FF2B5EF4-FFF2-40B4-BE49-F238E27FC236}">
                <a16:creationId xmlns:a16="http://schemas.microsoft.com/office/drawing/2014/main" id="{6A41C33F-B2B5-4B03-8774-361D5B0CA5DC}"/>
              </a:ext>
            </a:extLst>
          </p:cNvPr>
          <p:cNvSpPr>
            <a:spLocks xmlns:a="http://schemas.openxmlformats.org/drawingml/2006/main" noGrp="1"/>
          </p:cNvSpPr>
          <p:nvPr/>
        </p:nvSpPr>
        <p:spPr>
          <a:xfrm xmlns:a="http://schemas.openxmlformats.org/drawingml/2006/main">
            <a:off x="762000" y="59055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3" b="1">
                <a:solidFill>
                  <a:srgbClr val="111827"/>
                </a:solidFill>
                <a:latin typeface="Helvetica Neue"/>
                <a:ea typeface="Helvetica Neue"/>
                <a:cs typeface="Helvetica Neue"/>
              </a:defRPr>
            </a:pPr>
            <a:r>
              <a:rPr sz="4403" b="1">
                <a:solidFill>
                  <a:srgbClr val="111827"/>
                </a:solidFill>
                <a:latin typeface="Helvetica Neue"/>
                <a:ea typeface="Helvetica Neue"/>
                <a:cs typeface="Helvetica Neue"/>
              </a:rPr>
              <a:t>The right hill, before the road closes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4365b80cbec4d18"/>
          <a:srcRect xmlns:a="http://schemas.openxmlformats.org/drawingml/2006/main" l="0" t="11641" r="0" b="11641"/>
          <a:stretch xmlns:a="http://schemas.openxmlformats.org/drawingml/2006/main">
            <a:fillRect l="0" t="0" r="0" b="0"/>
          </a:stretch>
        </p:blipFill>
        <p:spPr>
          <a:xfrm xmlns:a="http://schemas.openxmlformats.org/drawingml/2006/main">
            <a:off x="762000" y="2095500"/>
            <a:ext cx="8858250" cy="5334000"/>
          </a:xfrm>
          <a:prstGeom xmlns:a="http://schemas.openxmlformats.org/drawingml/2006/main" prst="roundRect">
            <a:avLst>
              <a:gd name="adj" fmla="val 2857"/>
            </a:avLst>
          </a:prstGeom>
        </p:spPr>
      </p:pic>
      <p:sp>
        <p:nvSpPr>
          <p:cNvPr id="3" name="Every location must pass">
            <a:extLst xmlns:a="http://schemas.openxmlformats.org/drawingml/2006/main">
              <a:ext uri="{FF2B5EF4-FFF2-40B4-BE49-F238E27FC236}">
                <a16:creationId xmlns:a16="http://schemas.microsoft.com/office/drawing/2014/main" id="{8B164C35-932D-43DB-9935-E9C1E271DD31}"/>
              </a:ext>
            </a:extLst>
          </p:cNvPr>
          <p:cNvSpPr>
            <a:spLocks xmlns:a="http://schemas.openxmlformats.org/drawingml/2006/main" noGrp="1"/>
          </p:cNvSpPr>
          <p:nvPr/>
        </p:nvSpPr>
        <p:spPr>
          <a:xfrm xmlns:a="http://schemas.openxmlformats.org/drawingml/2006/main">
            <a:off x="10096500" y="2247900"/>
            <a:ext cx="4286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6B7280"/>
                </a:solidFill>
                <a:latin typeface="Helvetica Neue"/>
                <a:ea typeface="Helvetica Neue"/>
                <a:cs typeface="Helvetica Neue"/>
              </a:defRPr>
            </a:pPr>
            <a:r>
              <a:rPr sz="2100" b="0">
                <a:solidFill>
                  <a:srgbClr val="6B7280"/>
                </a:solidFill>
                <a:latin typeface="Helvetica Neue"/>
                <a:ea typeface="Helvetica Neue"/>
                <a:cs typeface="Helvetica Neue"/>
              </a:rPr>
              <a:t>Every location must pass</a:t>
            </a:r>
          </a:p>
        </p:txBody>
      </p:sp>
      <p:sp>
        <p:nvSpPr>
          <p:cNvPr id="4" name="Reachable in time">
            <a:extLst xmlns:a="http://schemas.openxmlformats.org/drawingml/2006/main">
              <a:ext uri="{FF2B5EF4-FFF2-40B4-BE49-F238E27FC236}">
                <a16:creationId xmlns:a16="http://schemas.microsoft.com/office/drawing/2014/main" id="{01F6FD41-71B9-41C6-97C3-545898A89944}"/>
              </a:ext>
            </a:extLst>
          </p:cNvPr>
          <p:cNvSpPr>
            <a:spLocks xmlns:a="http://schemas.openxmlformats.org/drawingml/2006/main" noGrp="1"/>
          </p:cNvSpPr>
          <p:nvPr/>
        </p:nvSpPr>
        <p:spPr>
          <a:xfrm xmlns:a="http://schemas.openxmlformats.org/drawingml/2006/main">
            <a:off x="10096500" y="3152775"/>
            <a:ext cx="428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D4ED8"/>
                </a:solidFill>
                <a:latin typeface="Helvetica Neue"/>
                <a:ea typeface="Helvetica Neue"/>
                <a:cs typeface="Helvetica Neue"/>
              </a:defRPr>
            </a:pPr>
            <a:r>
              <a:rPr sz="2700" b="1">
                <a:solidFill>
                  <a:srgbClr val="1D4ED8"/>
                </a:solidFill>
                <a:latin typeface="Helvetica Neue"/>
                <a:ea typeface="Helvetica Neue"/>
                <a:cs typeface="Helvetica Neue"/>
              </a:rPr>
              <a:t>Reachable in time</a:t>
            </a:r>
          </a:p>
        </p:txBody>
      </p:sp>
      <p:sp>
        <p:nvSpPr>
          <p:cNvPr id="5" name="Reaches people">
            <a:extLst xmlns:a="http://schemas.openxmlformats.org/drawingml/2006/main">
              <a:ext uri="{FF2B5EF4-FFF2-40B4-BE49-F238E27FC236}">
                <a16:creationId xmlns:a16="http://schemas.microsoft.com/office/drawing/2014/main" id="{30B2A7F6-42DB-4D61-B900-8B10C8D30F4F}"/>
              </a:ext>
            </a:extLst>
          </p:cNvPr>
          <p:cNvSpPr>
            <a:spLocks xmlns:a="http://schemas.openxmlformats.org/drawingml/2006/main" noGrp="1"/>
          </p:cNvSpPr>
          <p:nvPr/>
        </p:nvSpPr>
        <p:spPr>
          <a:xfrm xmlns:a="http://schemas.openxmlformats.org/drawingml/2006/main">
            <a:off x="10096500" y="4438650"/>
            <a:ext cx="428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D4ED8"/>
                </a:solidFill>
                <a:latin typeface="Helvetica Neue"/>
                <a:ea typeface="Helvetica Neue"/>
                <a:cs typeface="Helvetica Neue"/>
              </a:defRPr>
            </a:pPr>
            <a:r>
              <a:rPr sz="2700" b="1">
                <a:solidFill>
                  <a:srgbClr val="1D4ED8"/>
                </a:solidFill>
                <a:latin typeface="Helvetica Neue"/>
                <a:ea typeface="Helvetica Neue"/>
                <a:cs typeface="Helvetica Neue"/>
              </a:rPr>
              <a:t>Reaches people</a:t>
            </a:r>
          </a:p>
        </p:txBody>
      </p:sp>
      <p:sp>
        <p:nvSpPr>
          <p:cNvPr id="6" name="Links to a&#10;working tower">
            <a:extLst xmlns:a="http://schemas.openxmlformats.org/drawingml/2006/main">
              <a:ext uri="{FF2B5EF4-FFF2-40B4-BE49-F238E27FC236}">
                <a16:creationId xmlns:a16="http://schemas.microsoft.com/office/drawing/2014/main" id="{3A929B2F-6DE7-49F9-A773-F492D7D7722B}"/>
              </a:ext>
            </a:extLst>
          </p:cNvPr>
          <p:cNvSpPr>
            <a:spLocks xmlns:a="http://schemas.openxmlformats.org/drawingml/2006/main" noGrp="1"/>
          </p:cNvSpPr>
          <p:nvPr/>
        </p:nvSpPr>
        <p:spPr>
          <a:xfrm xmlns:a="http://schemas.openxmlformats.org/drawingml/2006/main">
            <a:off x="10096500" y="5705475"/>
            <a:ext cx="428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D4ED8"/>
                </a:solidFill>
                <a:latin typeface="Helvetica Neue"/>
                <a:ea typeface="Helvetica Neue"/>
                <a:cs typeface="Helvetica Neue"/>
              </a:defRPr>
            </a:pPr>
            <a:r>
              <a:rPr sz="2700" b="1">
                <a:solidFill>
                  <a:srgbClr val="1D4ED8"/>
                </a:solidFill>
                <a:latin typeface="Helvetica Neue"/>
                <a:ea typeface="Helvetica Neue"/>
                <a:cs typeface="Helvetica Neue"/>
              </a:rPr>
              <a:t>Links to a</a:t>
            </a:r>
          </a:p>
          <a:p xmlns:a="http://schemas.openxmlformats.org/drawingml/2006/main">
            <a:pPr algn="l">
              <a:defRPr sz="2700" b="1">
                <a:solidFill>
                  <a:srgbClr val="1D4ED8"/>
                </a:solidFill>
                <a:latin typeface="Helvetica Neue"/>
                <a:ea typeface="Helvetica Neue"/>
                <a:cs typeface="Helvetica Neue"/>
              </a:defRPr>
            </a:pPr>
            <a:r>
              <a:rPr sz="2700" b="1">
                <a:solidFill>
                  <a:srgbClr val="1D4ED8"/>
                </a:solidFill>
                <a:latin typeface="Helvetica Neue"/>
                <a:ea typeface="Helvetica Neue"/>
                <a:cs typeface="Helvetica Neue"/>
              </a:rPr>
              <a:t>working tower</a:t>
            </a:r>
          </a:p>
        </p:txBody>
      </p:sp>
      <p:sp>
        <p:nvSpPr>
          <p:cNvPr id="7" name="ResiliNet prototype. NASA SRTM, OpenStreetMap">
            <a:extLst xmlns:a="http://schemas.openxmlformats.org/drawingml/2006/main">
              <a:ext uri="{FF2B5EF4-FFF2-40B4-BE49-F238E27FC236}">
                <a16:creationId xmlns:a16="http://schemas.microsoft.com/office/drawing/2014/main" id="{2C374679-292E-4EED-A215-CF655BFE71FB}"/>
              </a:ext>
            </a:extLst>
          </p:cNvPr>
          <p:cNvSpPr>
            <a:spLocks xmlns:a="http://schemas.openxmlformats.org/drawingml/2006/main" noGrp="1"/>
          </p:cNvSpPr>
          <p:nvPr/>
        </p:nvSpPr>
        <p:spPr>
          <a:xfrm xmlns:a="http://schemas.openxmlformats.org/drawingml/2006/main">
            <a:off x="762000" y="8048625"/>
            <a:ext cx="12954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2" b="0">
                <a:solidFill>
                  <a:srgbClr val="6B7280"/>
                </a:solidFill>
                <a:latin typeface="Helvetica Neue"/>
                <a:ea typeface="Helvetica Neue"/>
                <a:cs typeface="Helvetica Neue"/>
              </a:defRPr>
            </a:pPr>
            <a:r>
              <a:rPr sz="1402" b="0">
                <a:solidFill>
                  <a:srgbClr val="6B7280"/>
                </a:solidFill>
                <a:latin typeface="Helvetica Neue"/>
                <a:ea typeface="Helvetica Neue"/>
                <a:cs typeface="Helvetica Neue"/>
              </a:rPr>
              <a:t>ResiliNet prototype. NASA SRTM, OpenStreetMap, WorldPop and OpenCellID.</a:t>
            </a:r>
          </a:p>
        </p:txBody>
      </p:sp>
      <p:sp>
        <p:nvSpPr>
          <p:cNvPr id="8" name="05">
            <a:extLst xmlns:a="http://schemas.openxmlformats.org/drawingml/2006/main">
              <a:ext uri="{FF2B5EF4-FFF2-40B4-BE49-F238E27FC236}">
                <a16:creationId xmlns:a16="http://schemas.microsoft.com/office/drawing/2014/main" id="{EE1DDE79-AC97-4F9A-B5A5-A21DA133C11D}"/>
              </a:ext>
            </a:extLst>
          </p:cNvPr>
          <p:cNvSpPr>
            <a:spLocks xmlns:a="http://schemas.openxmlformats.org/drawingml/2006/main" noGrp="1"/>
          </p:cNvSpPr>
          <p:nvPr/>
        </p:nvSpPr>
        <p:spPr>
          <a:xfrm xmlns:a="http://schemas.openxmlformats.org/drawingml/2006/main">
            <a:off x="13906500" y="804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02" b="0">
                <a:solidFill>
                  <a:srgbClr val="6B7280"/>
                </a:solidFill>
                <a:latin typeface="Helvetica Neue"/>
                <a:ea typeface="Helvetica Neue"/>
                <a:cs typeface="Helvetica Neue"/>
              </a:defRPr>
            </a:pPr>
            <a:r>
              <a:rPr sz="1402" b="0">
                <a:solidFill>
                  <a:srgbClr val="6B7280"/>
                </a:solidFill>
                <a:latin typeface="Helvetica Neue"/>
                <a:ea typeface="Helvetica Neue"/>
                <a:cs typeface="Helvetica Neue"/>
              </a:rPr>
              <a:t>05</a:t>
            </a:r>
          </a:p>
        </p:txBody>
      </p:sp>
    </p:spTree>
    <p:extLst>
      <p:ext uri="{BB962C8B-B14F-4D97-AF65-F5344CB8AC3E}">
        <p14:creationId xmlns:p14="http://schemas.microsoft.com/office/powerpoint/2010/main" val="2014419114"/>
      </p:ext>
    </p:extLst>
  </p:cSld>
</p:sld>
</file>

<file path=ppt/slides/slide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The plan: a tower at Bukit Bedak">
            <a:extLst xmlns:a="http://schemas.openxmlformats.org/drawingml/2006/main">
              <a:ext uri="{FF2B5EF4-FFF2-40B4-BE49-F238E27FC236}">
                <a16:creationId xmlns:a16="http://schemas.microsoft.com/office/drawing/2014/main" id="{3D950783-78FF-436F-B449-D338DF0413D8}"/>
              </a:ext>
            </a:extLst>
          </p:cNvPr>
          <p:cNvSpPr>
            <a:spLocks xmlns:a="http://schemas.openxmlformats.org/drawingml/2006/main" noGrp="1"/>
          </p:cNvSpPr>
          <p:nvPr/>
        </p:nvSpPr>
        <p:spPr>
          <a:xfrm xmlns:a="http://schemas.openxmlformats.org/drawingml/2006/main">
            <a:off x="762000" y="59055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3" b="1">
                <a:solidFill>
                  <a:srgbClr val="111827"/>
                </a:solidFill>
                <a:latin typeface="Helvetica Neue"/>
                <a:ea typeface="Helvetica Neue"/>
                <a:cs typeface="Helvetica Neue"/>
              </a:defRPr>
            </a:pPr>
            <a:r>
              <a:rPr sz="4403" b="1">
                <a:solidFill>
                  <a:srgbClr val="111827"/>
                </a:solidFill>
                <a:latin typeface="Helvetica Neue"/>
                <a:ea typeface="Helvetica Neue"/>
                <a:cs typeface="Helvetica Neue"/>
              </a:rPr>
              <a:t>The plan: a tower at Bukit Bedak</a:t>
            </a:r>
          </a:p>
        </p:txBody>
      </p:sp>
      <p:sp>
        <p:nvSpPr>
          <p:cNvPr id="2" name="8,604">
            <a:extLst xmlns:a="http://schemas.openxmlformats.org/drawingml/2006/main">
              <a:ext uri="{FF2B5EF4-FFF2-40B4-BE49-F238E27FC236}">
                <a16:creationId xmlns:a16="http://schemas.microsoft.com/office/drawing/2014/main" id="{2BBFE385-EDD5-4562-92E7-DDE84D3B6CBB}"/>
              </a:ext>
            </a:extLst>
          </p:cNvPr>
          <p:cNvSpPr>
            <a:spLocks xmlns:a="http://schemas.openxmlformats.org/drawingml/2006/main" noGrp="1"/>
          </p:cNvSpPr>
          <p:nvPr/>
        </p:nvSpPr>
        <p:spPr>
          <a:xfrm xmlns:a="http://schemas.openxmlformats.org/drawingml/2006/main">
            <a:off x="666750" y="2352675"/>
            <a:ext cx="7667625" cy="2809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0" b="1">
                <a:solidFill>
                  <a:srgbClr val="1D4ED8"/>
                </a:solidFill>
                <a:latin typeface="Helvetica Neue"/>
                <a:ea typeface="Helvetica Neue"/>
                <a:cs typeface="Helvetica Neue"/>
              </a:defRPr>
            </a:pPr>
            <a:r>
              <a:rPr sz="18750" b="1">
                <a:solidFill>
                  <a:srgbClr val="1D4ED8"/>
                </a:solidFill>
                <a:latin typeface="Helvetica Neue"/>
                <a:ea typeface="Helvetica Neue"/>
                <a:cs typeface="Helvetica Neue"/>
              </a:rPr>
              <a:t>8,604</a:t>
            </a:r>
          </a:p>
        </p:txBody>
      </p:sp>
      <p:sp>
        <p:nvSpPr>
          <p:cNvPr id="3" name="people kept or brought&#10;back on signal">
            <a:extLst xmlns:a="http://schemas.openxmlformats.org/drawingml/2006/main">
              <a:ext uri="{FF2B5EF4-FFF2-40B4-BE49-F238E27FC236}">
                <a16:creationId xmlns:a16="http://schemas.microsoft.com/office/drawing/2014/main" id="{DD6DB8E9-86F9-462B-90ED-0C8F45ECB370}"/>
              </a:ext>
            </a:extLst>
          </p:cNvPr>
          <p:cNvSpPr>
            <a:spLocks xmlns:a="http://schemas.openxmlformats.org/drawingml/2006/main" noGrp="1"/>
          </p:cNvSpPr>
          <p:nvPr/>
        </p:nvSpPr>
        <p:spPr>
          <a:xfrm xmlns:a="http://schemas.openxmlformats.org/drawingml/2006/main">
            <a:off x="828675" y="5133975"/>
            <a:ext cx="647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11827"/>
                </a:solidFill>
                <a:latin typeface="Helvetica Neue"/>
                <a:ea typeface="Helvetica Neue"/>
                <a:cs typeface="Helvetica Neue"/>
              </a:defRPr>
            </a:pPr>
            <a:r>
              <a:rPr sz="2925" b="0">
                <a:solidFill>
                  <a:srgbClr val="111827"/>
                </a:solidFill>
                <a:latin typeface="Helvetica Neue"/>
                <a:ea typeface="Helvetica Neue"/>
                <a:cs typeface="Helvetica Neue"/>
              </a:rPr>
              <a:t>people kept or brought</a:t>
            </a:r>
          </a:p>
          <a:p xmlns:a="http://schemas.openxmlformats.org/drawingml/2006/main">
            <a:pPr algn="l">
              <a:defRPr sz="2925" b="0">
                <a:solidFill>
                  <a:srgbClr val="111827"/>
                </a:solidFill>
                <a:latin typeface="Helvetica Neue"/>
                <a:ea typeface="Helvetica Neue"/>
                <a:cs typeface="Helvetica Neue"/>
              </a:defRPr>
            </a:pPr>
            <a:r>
              <a:rPr sz="2925" b="0">
                <a:solidFill>
                  <a:srgbClr val="111827"/>
                </a:solidFill>
                <a:latin typeface="Helvetica Neue"/>
                <a:ea typeface="Helvetica Neue"/>
                <a:cs typeface="Helvetica Neue"/>
              </a:rPr>
              <a:t>back on signal</a:t>
            </a:r>
          </a:p>
        </p:txBody>
      </p:sp>
      <p:sp>
        <p:nvSpPr>
          <p:cNvPr id="4" name="of 13,811 still at risk&#10;after routine support">
            <a:extLst xmlns:a="http://schemas.openxmlformats.org/drawingml/2006/main">
              <a:ext uri="{FF2B5EF4-FFF2-40B4-BE49-F238E27FC236}">
                <a16:creationId xmlns:a16="http://schemas.microsoft.com/office/drawing/2014/main" id="{935A00BA-2BE6-4550-8524-92A68EE67062}"/>
              </a:ext>
            </a:extLst>
          </p:cNvPr>
          <p:cNvSpPr>
            <a:spLocks xmlns:a="http://schemas.openxmlformats.org/drawingml/2006/main" noGrp="1"/>
          </p:cNvSpPr>
          <p:nvPr/>
        </p:nvSpPr>
        <p:spPr>
          <a:xfrm xmlns:a="http://schemas.openxmlformats.org/drawingml/2006/main">
            <a:off x="828675" y="6515100"/>
            <a:ext cx="6524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6B7280"/>
                </a:solidFill>
                <a:latin typeface="Helvetica Neue"/>
                <a:ea typeface="Helvetica Neue"/>
                <a:cs typeface="Helvetica Neue"/>
              </a:defRPr>
            </a:pPr>
            <a:r>
              <a:rPr sz="2400" b="0">
                <a:solidFill>
                  <a:srgbClr val="6B7280"/>
                </a:solidFill>
                <a:latin typeface="Helvetica Neue"/>
                <a:ea typeface="Helvetica Neue"/>
                <a:cs typeface="Helvetica Neue"/>
              </a:rPr>
              <a:t>of 13,811 still at risk</a:t>
            </a:r>
          </a:p>
          <a:p xmlns:a="http://schemas.openxmlformats.org/drawingml/2006/main">
            <a:pPr algn="l">
              <a:defRPr sz="2400" b="0">
                <a:solidFill>
                  <a:srgbClr val="6B7280"/>
                </a:solidFill>
                <a:latin typeface="Helvetica Neue"/>
                <a:ea typeface="Helvetica Neue"/>
                <a:cs typeface="Helvetica Neue"/>
              </a:defRPr>
            </a:pPr>
            <a:r>
              <a:rPr sz="2400" b="0">
                <a:solidFill>
                  <a:srgbClr val="6B7280"/>
                </a:solidFill>
                <a:latin typeface="Helvetica Neue"/>
                <a:ea typeface="Helvetica Neue"/>
                <a:cs typeface="Helvetica Neue"/>
              </a:rPr>
              <a:t>after routine support</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5369fa64f1144d9"/>
          <a:srcRect xmlns:a="http://schemas.openxmlformats.org/drawingml/2006/main" l="0" t="3416" r="0" b="3416"/>
          <a:stretch xmlns:a="http://schemas.openxmlformats.org/drawingml/2006/main">
            <a:fillRect l="0" t="0" r="0" b="0"/>
          </a:stretch>
        </p:blipFill>
        <p:spPr>
          <a:xfrm xmlns:a="http://schemas.openxmlformats.org/drawingml/2006/main">
            <a:off x="7905750" y="2124075"/>
            <a:ext cx="6572250" cy="4572000"/>
          </a:xfrm>
          <a:prstGeom xmlns:a="http://schemas.openxmlformats.org/drawingml/2006/main" prst="roundRect">
            <a:avLst>
              <a:gd name="adj" fmla="val 3333"/>
            </a:avLst>
          </a:prstGeom>
        </p:spPr>
      </p:pic>
      <p:sp>
        <p:nvSpPr>
          <p:cNvPr id="6" name="Portable tower + network support">
            <a:extLst xmlns:a="http://schemas.openxmlformats.org/drawingml/2006/main">
              <a:ext uri="{FF2B5EF4-FFF2-40B4-BE49-F238E27FC236}">
                <a16:creationId xmlns:a16="http://schemas.microsoft.com/office/drawing/2014/main" id="{9BE6B1E7-A93E-4388-B892-4036F6E5FC90}"/>
              </a:ext>
            </a:extLst>
          </p:cNvPr>
          <p:cNvSpPr>
            <a:spLocks xmlns:a="http://schemas.openxmlformats.org/drawingml/2006/main" noGrp="1"/>
          </p:cNvSpPr>
          <p:nvPr/>
        </p:nvSpPr>
        <p:spPr>
          <a:xfrm xmlns:a="http://schemas.openxmlformats.org/drawingml/2006/main">
            <a:off x="7905750" y="6943725"/>
            <a:ext cx="657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11827"/>
                </a:solidFill>
                <a:latin typeface="Helvetica Neue"/>
                <a:ea typeface="Helvetica Neue"/>
                <a:cs typeface="Helvetica Neue"/>
              </a:defRPr>
            </a:pPr>
            <a:r>
              <a:rPr sz="2250" b="1">
                <a:solidFill>
                  <a:srgbClr val="111827"/>
                </a:solidFill>
                <a:latin typeface="Helvetica Neue"/>
                <a:ea typeface="Helvetica Neue"/>
                <a:cs typeface="Helvetica Neue"/>
              </a:rPr>
              <a:t>Portable tower + network support</a:t>
            </a:r>
          </a:p>
        </p:txBody>
      </p:sp>
      <p:sp>
        <p:nvSpPr>
          <p:cNvPr id="7" name="Combined-plan estimate at +14 h. Portable tow">
            <a:extLst xmlns:a="http://schemas.openxmlformats.org/drawingml/2006/main">
              <a:ext uri="{FF2B5EF4-FFF2-40B4-BE49-F238E27FC236}">
                <a16:creationId xmlns:a16="http://schemas.microsoft.com/office/drawing/2014/main" id="{5D526C1F-5058-4769-ABE9-7CF9FFFC0914}"/>
              </a:ext>
            </a:extLst>
          </p:cNvPr>
          <p:cNvSpPr>
            <a:spLocks xmlns:a="http://schemas.openxmlformats.org/drawingml/2006/main" noGrp="1"/>
          </p:cNvSpPr>
          <p:nvPr/>
        </p:nvSpPr>
        <p:spPr>
          <a:xfrm xmlns:a="http://schemas.openxmlformats.org/drawingml/2006/main">
            <a:off x="762000" y="8048625"/>
            <a:ext cx="12954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2" b="0">
                <a:solidFill>
                  <a:srgbClr val="6B7280"/>
                </a:solidFill>
                <a:latin typeface="Helvetica Neue"/>
                <a:ea typeface="Helvetica Neue"/>
                <a:cs typeface="Helvetica Neue"/>
              </a:defRPr>
            </a:pPr>
            <a:r>
              <a:rPr sz="1402" b="0">
                <a:solidFill>
                  <a:srgbClr val="6B7280"/>
                </a:solidFill>
                <a:latin typeface="Helvetica Neue"/>
                <a:ea typeface="Helvetica Neue"/>
                <a:cs typeface="Helvetica Neue"/>
              </a:rPr>
              <a:t>Combined-plan estimate at +14 h. Portable tower alone adds 1,128 people.</a:t>
            </a:r>
          </a:p>
        </p:txBody>
      </p:sp>
      <p:sp>
        <p:nvSpPr>
          <p:cNvPr id="8" name="06">
            <a:extLst xmlns:a="http://schemas.openxmlformats.org/drawingml/2006/main">
              <a:ext uri="{FF2B5EF4-FFF2-40B4-BE49-F238E27FC236}">
                <a16:creationId xmlns:a16="http://schemas.microsoft.com/office/drawing/2014/main" id="{1F023F18-4683-4E81-B9A8-1479D30DE18E}"/>
              </a:ext>
            </a:extLst>
          </p:cNvPr>
          <p:cNvSpPr>
            <a:spLocks xmlns:a="http://schemas.openxmlformats.org/drawingml/2006/main" noGrp="1"/>
          </p:cNvSpPr>
          <p:nvPr/>
        </p:nvSpPr>
        <p:spPr>
          <a:xfrm xmlns:a="http://schemas.openxmlformats.org/drawingml/2006/main">
            <a:off x="13906500" y="804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02" b="0">
                <a:solidFill>
                  <a:srgbClr val="6B7280"/>
                </a:solidFill>
                <a:latin typeface="Helvetica Neue"/>
                <a:ea typeface="Helvetica Neue"/>
                <a:cs typeface="Helvetica Neue"/>
              </a:defRPr>
            </a:pPr>
            <a:r>
              <a:rPr sz="1402" b="0">
                <a:solidFill>
                  <a:srgbClr val="6B7280"/>
                </a:solidFill>
                <a:latin typeface="Helvetica Neue"/>
                <a:ea typeface="Helvetica Neue"/>
                <a:cs typeface="Helvetica Neue"/>
              </a:rPr>
              <a:t>06</a:t>
            </a:r>
          </a:p>
        </p:txBody>
      </p:sp>
    </p:spTree>
    <p:extLst>
      <p:ext uri="{BB962C8B-B14F-4D97-AF65-F5344CB8AC3E}">
        <p14:creationId xmlns:p14="http://schemas.microsoft.com/office/powerpoint/2010/main" val="340471119"/>
      </p:ext>
    </p:extLst>
  </p:cSld>
</p:sld>
</file>

<file path=ppt/slides/slide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Public data. Transparent assumptions.">
            <a:extLst xmlns:a="http://schemas.openxmlformats.org/drawingml/2006/main">
              <a:ext uri="{FF2B5EF4-FFF2-40B4-BE49-F238E27FC236}">
                <a16:creationId xmlns:a16="http://schemas.microsoft.com/office/drawing/2014/main" id="{0B771473-7DE5-4D99-85A1-CB315A1B8D4E}"/>
              </a:ext>
            </a:extLst>
          </p:cNvPr>
          <p:cNvSpPr>
            <a:spLocks xmlns:a="http://schemas.openxmlformats.org/drawingml/2006/main" noGrp="1"/>
          </p:cNvSpPr>
          <p:nvPr/>
        </p:nvSpPr>
        <p:spPr>
          <a:xfrm xmlns:a="http://schemas.openxmlformats.org/drawingml/2006/main">
            <a:off x="762000" y="59055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3" b="1">
                <a:solidFill>
                  <a:srgbClr val="111827"/>
                </a:solidFill>
                <a:latin typeface="Helvetica Neue"/>
                <a:ea typeface="Helvetica Neue"/>
                <a:cs typeface="Helvetica Neue"/>
              </a:defRPr>
            </a:pPr>
            <a:r>
              <a:rPr sz="4403" b="1">
                <a:solidFill>
                  <a:srgbClr val="111827"/>
                </a:solidFill>
                <a:latin typeface="Helvetica Neue"/>
                <a:ea typeface="Helvetica Neue"/>
                <a:cs typeface="Helvetica Neue"/>
              </a:rPr>
              <a:t>Public data. Transparent assumptions.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5d54c1857cc46c6"/>
          <a:srcRect xmlns:a="http://schemas.openxmlformats.org/drawingml/2006/main" l="0" t="12911" r="0" b="12911"/>
          <a:stretch xmlns:a="http://schemas.openxmlformats.org/drawingml/2006/main">
            <a:fillRect l="0" t="0" r="0" b="0"/>
          </a:stretch>
        </p:blipFill>
        <p:spPr>
          <a:xfrm xmlns:a="http://schemas.openxmlformats.org/drawingml/2006/main">
            <a:off x="762000" y="2095500"/>
            <a:ext cx="8096250" cy="5334000"/>
          </a:xfrm>
          <a:prstGeom xmlns:a="http://schemas.openxmlformats.org/drawingml/2006/main" prst="roundRect">
            <a:avLst>
              <a:gd name="adj" fmla="val 2857"/>
            </a:avLst>
          </a:prstGeom>
        </p:spPr>
      </p:pic>
      <p:sp>
        <p:nvSpPr>
          <p:cNvPr id="3" name="Terrain and roads&#10;Population and towers&#10;AI we">
            <a:extLst xmlns:a="http://schemas.openxmlformats.org/drawingml/2006/main">
              <a:ext uri="{FF2B5EF4-FFF2-40B4-BE49-F238E27FC236}">
                <a16:creationId xmlns:a16="http://schemas.microsoft.com/office/drawing/2014/main" id="{1AFD8B35-C7DD-4007-9E90-2C1B36415D08}"/>
              </a:ext>
            </a:extLst>
          </p:cNvPr>
          <p:cNvSpPr>
            <a:spLocks xmlns:a="http://schemas.openxmlformats.org/drawingml/2006/main" noGrp="1"/>
          </p:cNvSpPr>
          <p:nvPr/>
        </p:nvSpPr>
        <p:spPr>
          <a:xfrm xmlns:a="http://schemas.openxmlformats.org/drawingml/2006/main">
            <a:off x="9382125" y="2209800"/>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Terrain and roads</a:t>
            </a:r>
          </a:p>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Population and towers</a:t>
            </a:r>
          </a:p>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AI weather forecasts</a:t>
            </a:r>
          </a:p>
        </p:txBody>
      </p:sp>
      <p:sp>
        <p:nvSpPr>
          <p:cNvPr id="4" name="The demo uses&#10;a synthetic storm">
            <a:extLst xmlns:a="http://schemas.openxmlformats.org/drawingml/2006/main">
              <a:ext uri="{FF2B5EF4-FFF2-40B4-BE49-F238E27FC236}">
                <a16:creationId xmlns:a16="http://schemas.microsoft.com/office/drawing/2014/main" id="{ACCCEDDA-0325-4E9E-B254-77750511F772}"/>
              </a:ext>
            </a:extLst>
          </p:cNvPr>
          <p:cNvSpPr>
            <a:spLocks xmlns:a="http://schemas.openxmlformats.org/drawingml/2006/main" noGrp="1"/>
          </p:cNvSpPr>
          <p:nvPr/>
        </p:nvSpPr>
        <p:spPr>
          <a:xfrm xmlns:a="http://schemas.openxmlformats.org/drawingml/2006/main">
            <a:off x="9382125" y="4619625"/>
            <a:ext cx="50958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D4ED8"/>
                </a:solidFill>
                <a:latin typeface="Helvetica Neue"/>
                <a:ea typeface="Helvetica Neue"/>
                <a:cs typeface="Helvetica Neue"/>
              </a:defRPr>
            </a:pPr>
            <a:r>
              <a:rPr sz="2700" b="1">
                <a:solidFill>
                  <a:srgbClr val="1D4ED8"/>
                </a:solidFill>
                <a:latin typeface="Helvetica Neue"/>
                <a:ea typeface="Helvetica Neue"/>
                <a:cs typeface="Helvetica Neue"/>
              </a:rPr>
              <a:t>The demo uses</a:t>
            </a:r>
          </a:p>
          <a:p xmlns:a="http://schemas.openxmlformats.org/drawingml/2006/main">
            <a:pPr algn="l">
              <a:defRPr sz="2700" b="1">
                <a:solidFill>
                  <a:srgbClr val="1D4ED8"/>
                </a:solidFill>
                <a:latin typeface="Helvetica Neue"/>
                <a:ea typeface="Helvetica Neue"/>
                <a:cs typeface="Helvetica Neue"/>
              </a:defRPr>
            </a:pPr>
            <a:r>
              <a:rPr sz="2700" b="1">
                <a:solidFill>
                  <a:srgbClr val="1D4ED8"/>
                </a:solidFill>
                <a:latin typeface="Helvetica Neue"/>
                <a:ea typeface="Helvetica Neue"/>
                <a:cs typeface="Helvetica Neue"/>
              </a:rPr>
              <a:t>a synthetic storm</a:t>
            </a:r>
          </a:p>
        </p:txBody>
      </p:sp>
      <p:sp>
        <p:nvSpPr>
          <p:cNvPr id="5" name="2014 checks include&#10;matches and misses">
            <a:extLst xmlns:a="http://schemas.openxmlformats.org/drawingml/2006/main">
              <a:ext uri="{FF2B5EF4-FFF2-40B4-BE49-F238E27FC236}">
                <a16:creationId xmlns:a16="http://schemas.microsoft.com/office/drawing/2014/main" id="{4FFE8E40-8559-4C64-9ED3-182B263EED10}"/>
              </a:ext>
            </a:extLst>
          </p:cNvPr>
          <p:cNvSpPr>
            <a:spLocks xmlns:a="http://schemas.openxmlformats.org/drawingml/2006/main" noGrp="1"/>
          </p:cNvSpPr>
          <p:nvPr/>
        </p:nvSpPr>
        <p:spPr>
          <a:xfrm xmlns:a="http://schemas.openxmlformats.org/drawingml/2006/main">
            <a:off x="9382125" y="6296025"/>
            <a:ext cx="50958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6B7280"/>
                </a:solidFill>
                <a:latin typeface="Helvetica Neue"/>
                <a:ea typeface="Helvetica Neue"/>
                <a:cs typeface="Helvetica Neue"/>
              </a:defRPr>
            </a:pPr>
            <a:r>
              <a:rPr sz="2400" b="0">
                <a:solidFill>
                  <a:srgbClr val="6B7280"/>
                </a:solidFill>
                <a:latin typeface="Helvetica Neue"/>
                <a:ea typeface="Helvetica Neue"/>
                <a:cs typeface="Helvetica Neue"/>
              </a:rPr>
              <a:t>2014 checks include</a:t>
            </a:r>
          </a:p>
          <a:p xmlns:a="http://schemas.openxmlformats.org/drawingml/2006/main">
            <a:pPr algn="l">
              <a:defRPr sz="2400" b="0">
                <a:solidFill>
                  <a:srgbClr val="6B7280"/>
                </a:solidFill>
                <a:latin typeface="Helvetica Neue"/>
                <a:ea typeface="Helvetica Neue"/>
                <a:cs typeface="Helvetica Neue"/>
              </a:defRPr>
            </a:pPr>
            <a:r>
              <a:rPr sz="2400" b="0">
                <a:solidFill>
                  <a:srgbClr val="6B7280"/>
                </a:solidFill>
                <a:latin typeface="Helvetica Neue"/>
                <a:ea typeface="Helvetica Neue"/>
                <a:cs typeface="Helvetica Neue"/>
              </a:rPr>
              <a:t>matches and misses</a:t>
            </a:r>
          </a:p>
        </p:txBody>
      </p:sp>
      <p:sp>
        <p:nvSpPr>
          <p:cNvPr id="6" name="NASA, OSM, WorldPop, OpenCellID, Google DeepM">
            <a:extLst xmlns:a="http://schemas.openxmlformats.org/drawingml/2006/main">
              <a:ext uri="{FF2B5EF4-FFF2-40B4-BE49-F238E27FC236}">
                <a16:creationId xmlns:a16="http://schemas.microsoft.com/office/drawing/2014/main" id="{3FA0EA25-F5D2-41F7-8479-9259D0ED53B8}"/>
              </a:ext>
            </a:extLst>
          </p:cNvPr>
          <p:cNvSpPr>
            <a:spLocks xmlns:a="http://schemas.openxmlformats.org/drawingml/2006/main" noGrp="1"/>
          </p:cNvSpPr>
          <p:nvPr/>
        </p:nvSpPr>
        <p:spPr>
          <a:xfrm xmlns:a="http://schemas.openxmlformats.org/drawingml/2006/main">
            <a:off x="762000" y="8048625"/>
            <a:ext cx="12954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2" b="0">
                <a:solidFill>
                  <a:srgbClr val="6B7280"/>
                </a:solidFill>
                <a:latin typeface="Helvetica Neue"/>
                <a:ea typeface="Helvetica Neue"/>
                <a:cs typeface="Helvetica Neue"/>
              </a:defRPr>
            </a:pPr>
            <a:r>
              <a:rPr sz="1402" b="0">
                <a:solidFill>
                  <a:srgbClr val="6B7280"/>
                </a:solidFill>
                <a:latin typeface="Helvetica Neue"/>
                <a:ea typeface="Helvetica Neue"/>
                <a:cs typeface="Helvetica Neue"/>
              </a:rPr>
              <a:t>NASA, OSM, WorldPop, OpenCellID, Google DeepMind WeatherNext 3, ECMWF ERA5-Land.</a:t>
            </a:r>
          </a:p>
        </p:txBody>
      </p:sp>
      <p:sp>
        <p:nvSpPr>
          <p:cNvPr id="7" name="07">
            <a:extLst xmlns:a="http://schemas.openxmlformats.org/drawingml/2006/main">
              <a:ext uri="{FF2B5EF4-FFF2-40B4-BE49-F238E27FC236}">
                <a16:creationId xmlns:a16="http://schemas.microsoft.com/office/drawing/2014/main" id="{AA227466-5E3F-4D1F-9371-8D90A83F01BE}"/>
              </a:ext>
            </a:extLst>
          </p:cNvPr>
          <p:cNvSpPr>
            <a:spLocks xmlns:a="http://schemas.openxmlformats.org/drawingml/2006/main" noGrp="1"/>
          </p:cNvSpPr>
          <p:nvPr/>
        </p:nvSpPr>
        <p:spPr>
          <a:xfrm xmlns:a="http://schemas.openxmlformats.org/drawingml/2006/main">
            <a:off x="13906500" y="804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02" b="0">
                <a:solidFill>
                  <a:srgbClr val="6B7280"/>
                </a:solidFill>
                <a:latin typeface="Helvetica Neue"/>
                <a:ea typeface="Helvetica Neue"/>
                <a:cs typeface="Helvetica Neue"/>
              </a:defRPr>
            </a:pPr>
            <a:r>
              <a:rPr sz="1402" b="0">
                <a:solidFill>
                  <a:srgbClr val="6B7280"/>
                </a:solidFill>
                <a:latin typeface="Helvetica Neue"/>
                <a:ea typeface="Helvetica Neue"/>
                <a:cs typeface="Helvetica Neue"/>
              </a:rPr>
              <a:t>07</a:t>
            </a:r>
          </a:p>
        </p:txBody>
      </p:sp>
    </p:spTree>
    <p:extLst>
      <p:ext uri="{BB962C8B-B14F-4D97-AF65-F5344CB8AC3E}">
        <p14:creationId xmlns:p14="http://schemas.microsoft.com/office/powerpoint/2010/main" val="829334458"/>
      </p:ext>
    </p:extLst>
  </p:cSld>
</p:sld>
</file>

<file path=ppt/slides/slide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Two valleys. The same planning engine.">
            <a:extLst xmlns:a="http://schemas.openxmlformats.org/drawingml/2006/main">
              <a:ext uri="{FF2B5EF4-FFF2-40B4-BE49-F238E27FC236}">
                <a16:creationId xmlns:a16="http://schemas.microsoft.com/office/drawing/2014/main" id="{AE4367EB-B418-4C5B-84F5-E8379161A585}"/>
              </a:ext>
            </a:extLst>
          </p:cNvPr>
          <p:cNvSpPr>
            <a:spLocks xmlns:a="http://schemas.openxmlformats.org/drawingml/2006/main" noGrp="1"/>
          </p:cNvSpPr>
          <p:nvPr/>
        </p:nvSpPr>
        <p:spPr>
          <a:xfrm xmlns:a="http://schemas.openxmlformats.org/drawingml/2006/main">
            <a:off x="762000" y="59055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3" b="1">
                <a:solidFill>
                  <a:srgbClr val="111827"/>
                </a:solidFill>
                <a:latin typeface="Helvetica Neue"/>
                <a:ea typeface="Helvetica Neue"/>
                <a:cs typeface="Helvetica Neue"/>
              </a:defRPr>
            </a:pPr>
            <a:r>
              <a:rPr sz="4403" b="1">
                <a:solidFill>
                  <a:srgbClr val="111827"/>
                </a:solidFill>
                <a:latin typeface="Helvetica Neue"/>
                <a:ea typeface="Helvetica Neue"/>
                <a:cs typeface="Helvetica Neue"/>
              </a:rPr>
              <a:t>Two valleys. The same planning engine.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9ac136bea944945"/>
          <a:srcRect xmlns:a="http://schemas.openxmlformats.org/drawingml/2006/main" l="0" t="5714" r="0" b="5714"/>
          <a:stretch xmlns:a="http://schemas.openxmlformats.org/drawingml/2006/main">
            <a:fillRect l="0" t="0" r="0" b="0"/>
          </a:stretch>
        </p:blipFill>
        <p:spPr>
          <a:xfrm xmlns:a="http://schemas.openxmlformats.org/drawingml/2006/main">
            <a:off x="762000" y="2152650"/>
            <a:ext cx="6667500" cy="4429125"/>
          </a:xfrm>
          <a:prstGeom xmlns:a="http://schemas.openxmlformats.org/drawingml/2006/main" prst="roundRect">
            <a:avLst>
              <a:gd name="adj" fmla="val 3441"/>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3472cc706bb44ae"/>
          <a:srcRect xmlns:a="http://schemas.openxmlformats.org/drawingml/2006/main" l="0" t="5714" r="0" b="5714"/>
          <a:stretch xmlns:a="http://schemas.openxmlformats.org/drawingml/2006/main">
            <a:fillRect l="0" t="0" r="0" b="0"/>
          </a:stretch>
        </p:blipFill>
        <p:spPr>
          <a:xfrm xmlns:a="http://schemas.openxmlformats.org/drawingml/2006/main">
            <a:off x="7810500" y="2152650"/>
            <a:ext cx="6667500" cy="4429125"/>
          </a:xfrm>
          <a:prstGeom xmlns:a="http://schemas.openxmlformats.org/drawingml/2006/main" prst="roundRect">
            <a:avLst>
              <a:gd name="adj" fmla="val 3441"/>
            </a:avLst>
          </a:prstGeom>
        </p:spPr>
      </p:pic>
      <p:sp>
        <p:nvSpPr>
          <p:cNvPr id="4" name="Galas, Kelantan">
            <a:extLst xmlns:a="http://schemas.openxmlformats.org/drawingml/2006/main">
              <a:ext uri="{FF2B5EF4-FFF2-40B4-BE49-F238E27FC236}">
                <a16:creationId xmlns:a16="http://schemas.microsoft.com/office/drawing/2014/main" id="{BC9A49FF-4BD6-421E-858B-F5C0B7A89AC8}"/>
              </a:ext>
            </a:extLst>
          </p:cNvPr>
          <p:cNvSpPr>
            <a:spLocks xmlns:a="http://schemas.openxmlformats.org/drawingml/2006/main" noGrp="1"/>
          </p:cNvSpPr>
          <p:nvPr/>
        </p:nvSpPr>
        <p:spPr>
          <a:xfrm xmlns:a="http://schemas.openxmlformats.org/drawingml/2006/main">
            <a:off x="762000" y="6762750"/>
            <a:ext cx="666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11827"/>
                </a:solidFill>
                <a:latin typeface="Helvetica Neue"/>
                <a:ea typeface="Helvetica Neue"/>
                <a:cs typeface="Helvetica Neue"/>
              </a:defRPr>
            </a:pPr>
            <a:r>
              <a:rPr sz="2625" b="1">
                <a:solidFill>
                  <a:srgbClr val="111827"/>
                </a:solidFill>
                <a:latin typeface="Helvetica Neue"/>
                <a:ea typeface="Helvetica Neue"/>
                <a:cs typeface="Helvetica Neue"/>
              </a:rPr>
              <a:t>Galas, Kelantan</a:t>
            </a:r>
          </a:p>
        </p:txBody>
      </p:sp>
      <p:sp>
        <p:nvSpPr>
          <p:cNvPr id="5" name="Padas, Sabah">
            <a:extLst xmlns:a="http://schemas.openxmlformats.org/drawingml/2006/main">
              <a:ext uri="{FF2B5EF4-FFF2-40B4-BE49-F238E27FC236}">
                <a16:creationId xmlns:a16="http://schemas.microsoft.com/office/drawing/2014/main" id="{71A4E6A2-30E3-4986-B105-1342824B5A7D}"/>
              </a:ext>
            </a:extLst>
          </p:cNvPr>
          <p:cNvSpPr>
            <a:spLocks xmlns:a="http://schemas.openxmlformats.org/drawingml/2006/main" noGrp="1"/>
          </p:cNvSpPr>
          <p:nvPr/>
        </p:nvSpPr>
        <p:spPr>
          <a:xfrm xmlns:a="http://schemas.openxmlformats.org/drawingml/2006/main">
            <a:off x="7810500" y="6762750"/>
            <a:ext cx="666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11827"/>
                </a:solidFill>
                <a:latin typeface="Helvetica Neue"/>
                <a:ea typeface="Helvetica Neue"/>
                <a:cs typeface="Helvetica Neue"/>
              </a:defRPr>
            </a:pPr>
            <a:r>
              <a:rPr sz="2625" b="1">
                <a:solidFill>
                  <a:srgbClr val="111827"/>
                </a:solidFill>
                <a:latin typeface="Helvetica Neue"/>
                <a:ea typeface="Helvetica Neue"/>
                <a:cs typeface="Helvetica Neue"/>
              </a:rPr>
              <a:t>Padas, Sabah</a:t>
            </a:r>
          </a:p>
        </p:txBody>
      </p:sp>
      <p:sp>
        <p:nvSpPr>
          <p:cNvPr id="6" name="No backend. Runs offline after setup.">
            <a:extLst xmlns:a="http://schemas.openxmlformats.org/drawingml/2006/main">
              <a:ext uri="{FF2B5EF4-FFF2-40B4-BE49-F238E27FC236}">
                <a16:creationId xmlns:a16="http://schemas.microsoft.com/office/drawing/2014/main" id="{27889265-9604-49A0-84AF-E3D786421ACE}"/>
              </a:ext>
            </a:extLst>
          </p:cNvPr>
          <p:cNvSpPr>
            <a:spLocks xmlns:a="http://schemas.openxmlformats.org/drawingml/2006/main" noGrp="1"/>
          </p:cNvSpPr>
          <p:nvPr/>
        </p:nvSpPr>
        <p:spPr>
          <a:xfrm xmlns:a="http://schemas.openxmlformats.org/drawingml/2006/main">
            <a:off x="762000" y="7448550"/>
            <a:ext cx="13335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D4ED8"/>
                </a:solidFill>
                <a:latin typeface="Helvetica Neue"/>
                <a:ea typeface="Helvetica Neue"/>
                <a:cs typeface="Helvetica Neue"/>
              </a:defRPr>
            </a:pPr>
            <a:r>
              <a:rPr sz="2400" b="0">
                <a:solidFill>
                  <a:srgbClr val="1D4ED8"/>
                </a:solidFill>
                <a:latin typeface="Helvetica Neue"/>
                <a:ea typeface="Helvetica Neue"/>
                <a:cs typeface="Helvetica Neue"/>
              </a:rPr>
              <a:t>No backend. Runs offline after setup.</a:t>
            </a:r>
          </a:p>
        </p:txBody>
      </p:sp>
      <p:sp>
        <p:nvSpPr>
          <p:cNvPr id="7" name="ResiliNet prototype. Two prepared datasets. O">
            <a:extLst xmlns:a="http://schemas.openxmlformats.org/drawingml/2006/main">
              <a:ext uri="{FF2B5EF4-FFF2-40B4-BE49-F238E27FC236}">
                <a16:creationId xmlns:a16="http://schemas.microsoft.com/office/drawing/2014/main" id="{AB544B98-F8D2-4F1D-A411-92BE326DFA99}"/>
              </a:ext>
            </a:extLst>
          </p:cNvPr>
          <p:cNvSpPr>
            <a:spLocks xmlns:a="http://schemas.openxmlformats.org/drawingml/2006/main" noGrp="1"/>
          </p:cNvSpPr>
          <p:nvPr/>
        </p:nvSpPr>
        <p:spPr>
          <a:xfrm xmlns:a="http://schemas.openxmlformats.org/drawingml/2006/main">
            <a:off x="762000" y="8048625"/>
            <a:ext cx="12954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2" b="0">
                <a:solidFill>
                  <a:srgbClr val="6B7280"/>
                </a:solidFill>
                <a:latin typeface="Helvetica Neue"/>
                <a:ea typeface="Helvetica Neue"/>
                <a:cs typeface="Helvetica Neue"/>
              </a:defRPr>
            </a:pPr>
            <a:r>
              <a:rPr sz="1402" b="0">
                <a:solidFill>
                  <a:srgbClr val="6B7280"/>
                </a:solidFill>
                <a:latin typeface="Helvetica Neue"/>
                <a:ea typeface="Helvetica Neue"/>
                <a:cs typeface="Helvetica Neue"/>
              </a:rPr>
              <a:t>ResiliNet prototype. Two prepared datasets. Operational use requires local validation.</a:t>
            </a:r>
          </a:p>
        </p:txBody>
      </p:sp>
      <p:sp>
        <p:nvSpPr>
          <p:cNvPr id="8" name="08">
            <a:extLst xmlns:a="http://schemas.openxmlformats.org/drawingml/2006/main">
              <a:ext uri="{FF2B5EF4-FFF2-40B4-BE49-F238E27FC236}">
                <a16:creationId xmlns:a16="http://schemas.microsoft.com/office/drawing/2014/main" id="{68038CF0-6D77-479D-8CD3-8C905D01A761}"/>
              </a:ext>
            </a:extLst>
          </p:cNvPr>
          <p:cNvSpPr>
            <a:spLocks xmlns:a="http://schemas.openxmlformats.org/drawingml/2006/main" noGrp="1"/>
          </p:cNvSpPr>
          <p:nvPr/>
        </p:nvSpPr>
        <p:spPr>
          <a:xfrm xmlns:a="http://schemas.openxmlformats.org/drawingml/2006/main">
            <a:off x="13906500" y="804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02" b="0">
                <a:solidFill>
                  <a:srgbClr val="6B7280"/>
                </a:solidFill>
                <a:latin typeface="Helvetica Neue"/>
                <a:ea typeface="Helvetica Neue"/>
                <a:cs typeface="Helvetica Neue"/>
              </a:defRPr>
            </a:pPr>
            <a:r>
              <a:rPr sz="1402" b="0">
                <a:solidFill>
                  <a:srgbClr val="6B7280"/>
                </a:solidFill>
                <a:latin typeface="Helvetica Neue"/>
                <a:ea typeface="Helvetica Neue"/>
                <a:cs typeface="Helvetica Neue"/>
              </a:rPr>
              <a:t>08</a:t>
            </a:r>
          </a:p>
        </p:txBody>
      </p:sp>
    </p:spTree>
    <p:extLst>
      <p:ext uri="{BB962C8B-B14F-4D97-AF65-F5344CB8AC3E}">
        <p14:creationId xmlns:p14="http://schemas.microsoft.com/office/powerpoint/2010/main" val="929384228"/>
      </p:ext>
    </p:extLst>
  </p:cSld>
</p:sld>
</file>

<file path=ppt/slides/slide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When a tower fails, the plan changes">
            <a:extLst xmlns:a="http://schemas.openxmlformats.org/drawingml/2006/main">
              <a:ext uri="{FF2B5EF4-FFF2-40B4-BE49-F238E27FC236}">
                <a16:creationId xmlns:a16="http://schemas.microsoft.com/office/drawing/2014/main" id="{F8AE3F10-C588-4CB5-B044-B33BD7D7352D}"/>
              </a:ext>
            </a:extLst>
          </p:cNvPr>
          <p:cNvSpPr>
            <a:spLocks xmlns:a="http://schemas.openxmlformats.org/drawingml/2006/main" noGrp="1"/>
          </p:cNvSpPr>
          <p:nvPr/>
        </p:nvSpPr>
        <p:spPr>
          <a:xfrm xmlns:a="http://schemas.openxmlformats.org/drawingml/2006/main">
            <a:off x="762000" y="59055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3" b="1">
                <a:solidFill>
                  <a:srgbClr val="111827"/>
                </a:solidFill>
                <a:latin typeface="Helvetica Neue"/>
                <a:ea typeface="Helvetica Neue"/>
                <a:cs typeface="Helvetica Neue"/>
              </a:defRPr>
            </a:pPr>
            <a:r>
              <a:rPr sz="4403" b="1">
                <a:solidFill>
                  <a:srgbClr val="111827"/>
                </a:solidFill>
                <a:latin typeface="Helvetica Neue"/>
                <a:ea typeface="Helvetica Neue"/>
                <a:cs typeface="Helvetica Neue"/>
              </a:rPr>
              <a:t>When a tower fails, the plan changes</a:t>
            </a:r>
          </a:p>
        </p:txBody>
      </p:sp>
      <p:sp>
        <p:nvSpPr>
          <p:cNvPr id="2" name="1">
            <a:extLst xmlns:a="http://schemas.openxmlformats.org/drawingml/2006/main">
              <a:ext uri="{FF2B5EF4-FFF2-40B4-BE49-F238E27FC236}">
                <a16:creationId xmlns:a16="http://schemas.microsoft.com/office/drawing/2014/main" id="{9BE5FA67-39F8-4830-BBE0-966731E9DA76}"/>
              </a:ext>
            </a:extLst>
          </p:cNvPr>
          <p:cNvSpPr>
            <a:spLocks xmlns:a="http://schemas.openxmlformats.org/drawingml/2006/main" noGrp="1"/>
          </p:cNvSpPr>
          <p:nvPr/>
        </p:nvSpPr>
        <p:spPr>
          <a:xfrm xmlns:a="http://schemas.openxmlformats.org/drawingml/2006/main">
            <a:off x="781050" y="1924050"/>
            <a:ext cx="3905250" cy="3743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0" b="1">
                <a:solidFill>
                  <a:srgbClr val="1D4ED8"/>
                </a:solidFill>
                <a:latin typeface="Helvetica Neue"/>
                <a:ea typeface="Helvetica Neue"/>
                <a:cs typeface="Helvetica Neue"/>
              </a:defRPr>
            </a:pPr>
            <a:r>
              <a:rPr sz="25500" b="1">
                <a:solidFill>
                  <a:srgbClr val="1D4ED8"/>
                </a:solidFill>
                <a:latin typeface="Helvetica Neue"/>
                <a:ea typeface="Helvetica Neue"/>
                <a:cs typeface="Helvetica Neue"/>
              </a:rPr>
              <a:t>1</a:t>
            </a:r>
          </a:p>
        </p:txBody>
      </p:sp>
      <p:sp>
        <p:nvSpPr>
          <p:cNvPr id="3" name="new report">
            <a:extLst xmlns:a="http://schemas.openxmlformats.org/drawingml/2006/main">
              <a:ext uri="{FF2B5EF4-FFF2-40B4-BE49-F238E27FC236}">
                <a16:creationId xmlns:a16="http://schemas.microsoft.com/office/drawing/2014/main" id="{5BED8864-369A-4784-8093-691A70ED71CC}"/>
              </a:ext>
            </a:extLst>
          </p:cNvPr>
          <p:cNvSpPr>
            <a:spLocks xmlns:a="http://schemas.openxmlformats.org/drawingml/2006/main" noGrp="1"/>
          </p:cNvSpPr>
          <p:nvPr/>
        </p:nvSpPr>
        <p:spPr>
          <a:xfrm xmlns:a="http://schemas.openxmlformats.org/drawingml/2006/main">
            <a:off x="1000125" y="5781675"/>
            <a:ext cx="4857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11827"/>
                </a:solidFill>
                <a:latin typeface="Helvetica Neue"/>
                <a:ea typeface="Helvetica Neue"/>
                <a:cs typeface="Helvetica Neue"/>
              </a:defRPr>
            </a:pPr>
            <a:r>
              <a:rPr sz="3450" b="0">
                <a:solidFill>
                  <a:srgbClr val="111827"/>
                </a:solidFill>
                <a:latin typeface="Helvetica Neue"/>
                <a:ea typeface="Helvetica Neue"/>
                <a:cs typeface="Helvetica Neue"/>
              </a:rPr>
              <a:t>new report</a:t>
            </a:r>
          </a:p>
        </p:txBody>
      </p:sp>
      <p:sp>
        <p:nvSpPr>
          <p:cNvPr id="4" name="A new recommendation">
            <a:extLst xmlns:a="http://schemas.openxmlformats.org/drawingml/2006/main">
              <a:ext uri="{FF2B5EF4-FFF2-40B4-BE49-F238E27FC236}">
                <a16:creationId xmlns:a16="http://schemas.microsoft.com/office/drawing/2014/main" id="{48FCEB9D-CE3D-4912-AF4F-075EF09B072F}"/>
              </a:ext>
            </a:extLst>
          </p:cNvPr>
          <p:cNvSpPr>
            <a:spLocks xmlns:a="http://schemas.openxmlformats.org/drawingml/2006/main" noGrp="1"/>
          </p:cNvSpPr>
          <p:nvPr/>
        </p:nvSpPr>
        <p:spPr>
          <a:xfrm xmlns:a="http://schemas.openxmlformats.org/drawingml/2006/main">
            <a:off x="6572250" y="286702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3" b="1">
                <a:solidFill>
                  <a:srgbClr val="111827"/>
                </a:solidFill>
                <a:latin typeface="Helvetica Neue"/>
                <a:ea typeface="Helvetica Neue"/>
                <a:cs typeface="Helvetica Neue"/>
              </a:defRPr>
            </a:pPr>
            <a:r>
              <a:rPr sz="4403" b="1">
                <a:solidFill>
                  <a:srgbClr val="111827"/>
                </a:solidFill>
                <a:latin typeface="Helvetica Neue"/>
                <a:ea typeface="Helvetica Neue"/>
                <a:cs typeface="Helvetica Neue"/>
              </a:rPr>
              <a:t>A new recommendation</a:t>
            </a:r>
          </a:p>
        </p:txBody>
      </p:sp>
      <p:sp>
        <p:nvSpPr>
          <p:cNvPr id="5" name="Watch the two-minute live demo">
            <a:extLst xmlns:a="http://schemas.openxmlformats.org/drawingml/2006/main">
              <a:ext uri="{FF2B5EF4-FFF2-40B4-BE49-F238E27FC236}">
                <a16:creationId xmlns:a16="http://schemas.microsoft.com/office/drawing/2014/main" id="{640C9F59-43DE-4A98-95CA-5B8763BF5007}"/>
              </a:ext>
            </a:extLst>
          </p:cNvPr>
          <p:cNvSpPr>
            <a:spLocks xmlns:a="http://schemas.openxmlformats.org/drawingml/2006/main" noGrp="1"/>
          </p:cNvSpPr>
          <p:nvPr/>
        </p:nvSpPr>
        <p:spPr>
          <a:xfrm xmlns:a="http://schemas.openxmlformats.org/drawingml/2006/main">
            <a:off x="6610350" y="4152900"/>
            <a:ext cx="7524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6B7280"/>
                </a:solidFill>
                <a:latin typeface="Helvetica Neue"/>
                <a:ea typeface="Helvetica Neue"/>
                <a:cs typeface="Helvetica Neue"/>
              </a:defRPr>
            </a:pPr>
            <a:r>
              <a:rPr sz="3150" b="0">
                <a:solidFill>
                  <a:srgbClr val="6B7280"/>
                </a:solidFill>
                <a:latin typeface="Helvetica Neue"/>
                <a:ea typeface="Helvetica Neue"/>
                <a:cs typeface="Helvetica Neue"/>
              </a:rPr>
              <a:t>Watch the two-minute live demo</a:t>
            </a:r>
          </a:p>
        </p:txBody>
      </p:sp>
      <p:sp>
        <p:nvSpPr>
          <p:cNvPr id="6" name="Next step: an operator-data pilot.">
            <a:extLst xmlns:a="http://schemas.openxmlformats.org/drawingml/2006/main">
              <a:ext uri="{FF2B5EF4-FFF2-40B4-BE49-F238E27FC236}">
                <a16:creationId xmlns:a16="http://schemas.microsoft.com/office/drawing/2014/main" id="{F13431FC-66E9-4E76-8E43-118AF76B6ED2}"/>
              </a:ext>
            </a:extLst>
          </p:cNvPr>
          <p:cNvSpPr>
            <a:spLocks xmlns:a="http://schemas.openxmlformats.org/drawingml/2006/main" noGrp="1"/>
          </p:cNvSpPr>
          <p:nvPr/>
        </p:nvSpPr>
        <p:spPr>
          <a:xfrm xmlns:a="http://schemas.openxmlformats.org/drawingml/2006/main">
            <a:off x="819150" y="7210425"/>
            <a:ext cx="13239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D4ED8"/>
                </a:solidFill>
                <a:latin typeface="Helvetica Neue"/>
                <a:ea typeface="Helvetica Neue"/>
                <a:cs typeface="Helvetica Neue"/>
              </a:defRPr>
            </a:pPr>
            <a:r>
              <a:rPr sz="2700" b="0">
                <a:solidFill>
                  <a:srgbClr val="1D4ED8"/>
                </a:solidFill>
                <a:latin typeface="Helvetica Neue"/>
                <a:ea typeface="Helvetica Neue"/>
                <a:cs typeface="Helvetica Neue"/>
              </a:rPr>
              <a:t>Next step: an operator-data pilot.</a:t>
            </a:r>
          </a:p>
        </p:txBody>
      </p:sp>
      <p:sp>
        <p:nvSpPr>
          <p:cNvPr id="7" name="Interactive prototype. Replanning time depend">
            <a:extLst xmlns:a="http://schemas.openxmlformats.org/drawingml/2006/main">
              <a:ext uri="{FF2B5EF4-FFF2-40B4-BE49-F238E27FC236}">
                <a16:creationId xmlns:a16="http://schemas.microsoft.com/office/drawing/2014/main" id="{16401B96-A468-4311-AE76-FF67F3B0B345}"/>
              </a:ext>
            </a:extLst>
          </p:cNvPr>
          <p:cNvSpPr>
            <a:spLocks xmlns:a="http://schemas.openxmlformats.org/drawingml/2006/main" noGrp="1"/>
          </p:cNvSpPr>
          <p:nvPr/>
        </p:nvSpPr>
        <p:spPr>
          <a:xfrm xmlns:a="http://schemas.openxmlformats.org/drawingml/2006/main">
            <a:off x="762000" y="8048625"/>
            <a:ext cx="12954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2" b="0">
                <a:solidFill>
                  <a:srgbClr val="6B7280"/>
                </a:solidFill>
                <a:latin typeface="Helvetica Neue"/>
                <a:ea typeface="Helvetica Neue"/>
                <a:cs typeface="Helvetica Neue"/>
              </a:defRPr>
            </a:pPr>
            <a:r>
              <a:rPr sz="1402" b="0">
                <a:solidFill>
                  <a:srgbClr val="6B7280"/>
                </a:solidFill>
                <a:latin typeface="Helvetica Neue"/>
                <a:ea typeface="Helvetica Neue"/>
                <a:cs typeface="Helvetica Neue"/>
              </a:rPr>
              <a:t>Interactive prototype. Replanning time depends on the device and scenario.</a:t>
            </a:r>
          </a:p>
        </p:txBody>
      </p:sp>
      <p:sp>
        <p:nvSpPr>
          <p:cNvPr id="8" name="09">
            <a:extLst xmlns:a="http://schemas.openxmlformats.org/drawingml/2006/main">
              <a:ext uri="{FF2B5EF4-FFF2-40B4-BE49-F238E27FC236}">
                <a16:creationId xmlns:a16="http://schemas.microsoft.com/office/drawing/2014/main" id="{02829785-8B20-47CD-9F65-A1AB83666091}"/>
              </a:ext>
            </a:extLst>
          </p:cNvPr>
          <p:cNvSpPr>
            <a:spLocks xmlns:a="http://schemas.openxmlformats.org/drawingml/2006/main" noGrp="1"/>
          </p:cNvSpPr>
          <p:nvPr/>
        </p:nvSpPr>
        <p:spPr>
          <a:xfrm xmlns:a="http://schemas.openxmlformats.org/drawingml/2006/main">
            <a:off x="13906500" y="804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02" b="0">
                <a:solidFill>
                  <a:srgbClr val="6B7280"/>
                </a:solidFill>
                <a:latin typeface="Helvetica Neue"/>
                <a:ea typeface="Helvetica Neue"/>
                <a:cs typeface="Helvetica Neue"/>
              </a:defRPr>
            </a:pPr>
            <a:r>
              <a:rPr sz="1402" b="0">
                <a:solidFill>
                  <a:srgbClr val="6B7280"/>
                </a:solidFill>
                <a:latin typeface="Helvetica Neue"/>
                <a:ea typeface="Helvetica Neue"/>
                <a:cs typeface="Helvetica Neue"/>
              </a:rPr>
              <a:t>09</a:t>
            </a:r>
          </a:p>
        </p:txBody>
      </p:sp>
    </p:spTree>
    <p:extLst>
      <p:ext uri="{BB962C8B-B14F-4D97-AF65-F5344CB8AC3E}">
        <p14:creationId xmlns:p14="http://schemas.microsoft.com/office/powerpoint/2010/main" val="20775203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2026-09-20T06:50:41.8220000Z</dcterms:created>
  <dcterms:modified xsi:type="dcterms:W3CDTF">2026-09-20T06:50:41.8220000Z</dcterms:modified>
</coreProperties>
</file>